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Inter 1" panose="020B0604020202020204" charset="0"/>
      <p:regular r:id="rId20"/>
    </p:embeddedFont>
    <p:embeddedFont>
      <p:font typeface="Inter 1 Bold" panose="020B0604020202020204" charset="0"/>
      <p:regular r:id="rId21"/>
    </p:embeddedFont>
    <p:embeddedFont>
      <p:font typeface="Inter 2" panose="020B0604020202020204" charset="0"/>
      <p:regular r:id="rId22"/>
    </p:embeddedFont>
    <p:embeddedFont>
      <p:font typeface="Inter 2 Bold" panose="020B0604020202020204" charset="0"/>
      <p:regular r:id="rId23"/>
    </p:embeddedFont>
    <p:embeddedFont>
      <p:font typeface="Poppins" panose="00000500000000000000" pitchFamily="2" charset="0"/>
      <p:regular r:id="rId24"/>
    </p:embeddedFont>
    <p:embeddedFont>
      <p:font typeface="Poppins Bold" panose="00000800000000000000"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94622" autoAdjust="0"/>
  </p:normalViewPr>
  <p:slideViewPr>
    <p:cSldViewPr>
      <p:cViewPr varScale="1">
        <p:scale>
          <a:sx n="70" d="100"/>
          <a:sy n="70" d="100"/>
        </p:scale>
        <p:origin x="97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docs.google.com/spreadsheets/d/1DUF2isFWsqVSYhbaACYtbgcLi_YjDqpE3GLQIVgkKQg/edit#gid=69851113"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a:off x="10096029" y="4391422"/>
            <a:ext cx="2776691" cy="1116957"/>
            <a:chOff x="0" y="0"/>
            <a:chExt cx="1010287" cy="406400"/>
          </a:xfrm>
        </p:grpSpPr>
        <p:sp>
          <p:nvSpPr>
            <p:cNvPr id="3" name="Freeform 3"/>
            <p:cNvSpPr/>
            <p:nvPr/>
          </p:nvSpPr>
          <p:spPr>
            <a:xfrm>
              <a:off x="0" y="0"/>
              <a:ext cx="1010287" cy="406400"/>
            </a:xfrm>
            <a:custGeom>
              <a:avLst/>
              <a:gdLst/>
              <a:ahLst/>
              <a:cxnLst/>
              <a:rect l="l" t="t" r="r" b="b"/>
              <a:pathLst>
                <a:path w="1010287" h="406400">
                  <a:moveTo>
                    <a:pt x="807087" y="0"/>
                  </a:moveTo>
                  <a:cubicBezTo>
                    <a:pt x="919312" y="0"/>
                    <a:pt x="1010287" y="90976"/>
                    <a:pt x="1010287" y="203200"/>
                  </a:cubicBezTo>
                  <a:cubicBezTo>
                    <a:pt x="1010287" y="315424"/>
                    <a:pt x="919312" y="406400"/>
                    <a:pt x="807087"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4" name="TextBox 4"/>
            <p:cNvSpPr txBox="1"/>
            <p:nvPr/>
          </p:nvSpPr>
          <p:spPr>
            <a:xfrm>
              <a:off x="0" y="-57150"/>
              <a:ext cx="1010287" cy="4635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2451057" y="6896155"/>
            <a:ext cx="3081111" cy="1116957"/>
            <a:chOff x="0" y="0"/>
            <a:chExt cx="1121049" cy="406400"/>
          </a:xfrm>
        </p:grpSpPr>
        <p:sp>
          <p:nvSpPr>
            <p:cNvPr id="6" name="Freeform 6"/>
            <p:cNvSpPr/>
            <p:nvPr/>
          </p:nvSpPr>
          <p:spPr>
            <a:xfrm>
              <a:off x="0" y="0"/>
              <a:ext cx="1121049" cy="406400"/>
            </a:xfrm>
            <a:custGeom>
              <a:avLst/>
              <a:gdLst/>
              <a:ahLst/>
              <a:cxnLst/>
              <a:rect l="l" t="t" r="r" b="b"/>
              <a:pathLst>
                <a:path w="1121049" h="406400">
                  <a:moveTo>
                    <a:pt x="917849" y="0"/>
                  </a:moveTo>
                  <a:cubicBezTo>
                    <a:pt x="1030074" y="0"/>
                    <a:pt x="1121049" y="90976"/>
                    <a:pt x="1121049" y="203200"/>
                  </a:cubicBezTo>
                  <a:cubicBezTo>
                    <a:pt x="1121049" y="315424"/>
                    <a:pt x="1030074" y="406400"/>
                    <a:pt x="917849" y="406400"/>
                  </a:cubicBezTo>
                  <a:lnTo>
                    <a:pt x="203200" y="406400"/>
                  </a:lnTo>
                  <a:cubicBezTo>
                    <a:pt x="90976" y="406400"/>
                    <a:pt x="0" y="315424"/>
                    <a:pt x="0" y="203200"/>
                  </a:cubicBezTo>
                  <a:cubicBezTo>
                    <a:pt x="0" y="90976"/>
                    <a:pt x="90976" y="0"/>
                    <a:pt x="203200" y="0"/>
                  </a:cubicBezTo>
                  <a:close/>
                </a:path>
              </a:pathLst>
            </a:custGeom>
            <a:gradFill rotWithShape="1">
              <a:gsLst>
                <a:gs pos="0">
                  <a:srgbClr val="FBBF24">
                    <a:alpha val="100000"/>
                  </a:srgbClr>
                </a:gs>
                <a:gs pos="100000">
                  <a:srgbClr val="F8FAFC">
                    <a:alpha val="0"/>
                  </a:srgbClr>
                </a:gs>
              </a:gsLst>
              <a:lin ang="0"/>
            </a:gradFill>
          </p:spPr>
        </p:sp>
        <p:sp>
          <p:nvSpPr>
            <p:cNvPr id="7" name="TextBox 7"/>
            <p:cNvSpPr txBox="1"/>
            <p:nvPr/>
          </p:nvSpPr>
          <p:spPr>
            <a:xfrm>
              <a:off x="0" y="-57150"/>
              <a:ext cx="1121049" cy="46355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0096029" y="8893421"/>
            <a:ext cx="2776691" cy="1116957"/>
            <a:chOff x="0" y="0"/>
            <a:chExt cx="1010287" cy="406400"/>
          </a:xfrm>
        </p:grpSpPr>
        <p:sp>
          <p:nvSpPr>
            <p:cNvPr id="9" name="Freeform 9"/>
            <p:cNvSpPr/>
            <p:nvPr/>
          </p:nvSpPr>
          <p:spPr>
            <a:xfrm>
              <a:off x="0" y="0"/>
              <a:ext cx="1010287" cy="406400"/>
            </a:xfrm>
            <a:custGeom>
              <a:avLst/>
              <a:gdLst/>
              <a:ahLst/>
              <a:cxnLst/>
              <a:rect l="l" t="t" r="r" b="b"/>
              <a:pathLst>
                <a:path w="1010287" h="406400">
                  <a:moveTo>
                    <a:pt x="807087" y="0"/>
                  </a:moveTo>
                  <a:cubicBezTo>
                    <a:pt x="919312" y="0"/>
                    <a:pt x="1010287" y="90976"/>
                    <a:pt x="1010287" y="203200"/>
                  </a:cubicBezTo>
                  <a:cubicBezTo>
                    <a:pt x="1010287" y="315424"/>
                    <a:pt x="919312" y="406400"/>
                    <a:pt x="807087"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10" name="TextBox 10"/>
            <p:cNvSpPr txBox="1"/>
            <p:nvPr/>
          </p:nvSpPr>
          <p:spPr>
            <a:xfrm>
              <a:off x="0" y="-57150"/>
              <a:ext cx="1010287" cy="4635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4391667" y="6896155"/>
            <a:ext cx="2969957" cy="1116957"/>
            <a:chOff x="0" y="0"/>
            <a:chExt cx="1080607" cy="406400"/>
          </a:xfrm>
        </p:grpSpPr>
        <p:sp>
          <p:nvSpPr>
            <p:cNvPr id="12" name="Freeform 12"/>
            <p:cNvSpPr/>
            <p:nvPr/>
          </p:nvSpPr>
          <p:spPr>
            <a:xfrm>
              <a:off x="0" y="0"/>
              <a:ext cx="1080607" cy="406400"/>
            </a:xfrm>
            <a:custGeom>
              <a:avLst/>
              <a:gdLst/>
              <a:ahLst/>
              <a:cxnLst/>
              <a:rect l="l" t="t" r="r" b="b"/>
              <a:pathLst>
                <a:path w="1080607" h="406400">
                  <a:moveTo>
                    <a:pt x="877407" y="0"/>
                  </a:moveTo>
                  <a:cubicBezTo>
                    <a:pt x="989631" y="0"/>
                    <a:pt x="1080607" y="90976"/>
                    <a:pt x="1080607" y="203200"/>
                  </a:cubicBezTo>
                  <a:cubicBezTo>
                    <a:pt x="1080607" y="315424"/>
                    <a:pt x="989631" y="406400"/>
                    <a:pt x="877407" y="406400"/>
                  </a:cubicBezTo>
                  <a:lnTo>
                    <a:pt x="203200" y="406400"/>
                  </a:lnTo>
                  <a:cubicBezTo>
                    <a:pt x="90976" y="406400"/>
                    <a:pt x="0" y="315424"/>
                    <a:pt x="0" y="203200"/>
                  </a:cubicBezTo>
                  <a:cubicBezTo>
                    <a:pt x="0" y="90976"/>
                    <a:pt x="90976" y="0"/>
                    <a:pt x="203200" y="0"/>
                  </a:cubicBezTo>
                  <a:close/>
                </a:path>
              </a:pathLst>
            </a:custGeom>
            <a:gradFill rotWithShape="1">
              <a:gsLst>
                <a:gs pos="0">
                  <a:srgbClr val="FBBF24">
                    <a:alpha val="100000"/>
                  </a:srgbClr>
                </a:gs>
                <a:gs pos="100000">
                  <a:srgbClr val="F8FAFC">
                    <a:alpha val="0"/>
                  </a:srgbClr>
                </a:gs>
              </a:gsLst>
              <a:lin ang="0"/>
            </a:gradFill>
          </p:spPr>
        </p:sp>
        <p:sp>
          <p:nvSpPr>
            <p:cNvPr id="13" name="TextBox 13"/>
            <p:cNvSpPr txBox="1"/>
            <p:nvPr/>
          </p:nvSpPr>
          <p:spPr>
            <a:xfrm>
              <a:off x="0" y="-57150"/>
              <a:ext cx="1080607" cy="4635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2036639" y="8893421"/>
            <a:ext cx="2997746" cy="1116957"/>
            <a:chOff x="0" y="0"/>
            <a:chExt cx="1090717" cy="406400"/>
          </a:xfrm>
        </p:grpSpPr>
        <p:sp>
          <p:nvSpPr>
            <p:cNvPr id="15" name="Freeform 15"/>
            <p:cNvSpPr/>
            <p:nvPr/>
          </p:nvSpPr>
          <p:spPr>
            <a:xfrm>
              <a:off x="0" y="0"/>
              <a:ext cx="1090717" cy="406400"/>
            </a:xfrm>
            <a:custGeom>
              <a:avLst/>
              <a:gdLst/>
              <a:ahLst/>
              <a:cxnLst/>
              <a:rect l="l" t="t" r="r" b="b"/>
              <a:pathLst>
                <a:path w="1090717" h="406400">
                  <a:moveTo>
                    <a:pt x="887517" y="0"/>
                  </a:moveTo>
                  <a:cubicBezTo>
                    <a:pt x="999742" y="0"/>
                    <a:pt x="1090717" y="90976"/>
                    <a:pt x="1090717" y="203200"/>
                  </a:cubicBezTo>
                  <a:cubicBezTo>
                    <a:pt x="1090717" y="315424"/>
                    <a:pt x="999742" y="406400"/>
                    <a:pt x="887517"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16" name="TextBox 16"/>
            <p:cNvSpPr txBox="1"/>
            <p:nvPr/>
          </p:nvSpPr>
          <p:spPr>
            <a:xfrm>
              <a:off x="0" y="-57150"/>
              <a:ext cx="1090717" cy="4635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rot="-10800000">
            <a:off x="11866762" y="4391422"/>
            <a:ext cx="2776536" cy="1116957"/>
            <a:chOff x="0" y="0"/>
            <a:chExt cx="1010231" cy="406400"/>
          </a:xfrm>
        </p:grpSpPr>
        <p:sp>
          <p:nvSpPr>
            <p:cNvPr id="18" name="Freeform 18"/>
            <p:cNvSpPr/>
            <p:nvPr/>
          </p:nvSpPr>
          <p:spPr>
            <a:xfrm>
              <a:off x="0" y="0"/>
              <a:ext cx="1010231" cy="406400"/>
            </a:xfrm>
            <a:custGeom>
              <a:avLst/>
              <a:gdLst/>
              <a:ahLst/>
              <a:cxnLst/>
              <a:rect l="l" t="t" r="r" b="b"/>
              <a:pathLst>
                <a:path w="1010231" h="406400">
                  <a:moveTo>
                    <a:pt x="807031" y="0"/>
                  </a:moveTo>
                  <a:cubicBezTo>
                    <a:pt x="919255" y="0"/>
                    <a:pt x="1010231" y="90976"/>
                    <a:pt x="1010231" y="203200"/>
                  </a:cubicBezTo>
                  <a:cubicBezTo>
                    <a:pt x="1010231" y="315424"/>
                    <a:pt x="919255" y="406400"/>
                    <a:pt x="807031"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19" name="TextBox 19"/>
            <p:cNvSpPr txBox="1"/>
            <p:nvPr/>
          </p:nvSpPr>
          <p:spPr>
            <a:xfrm>
              <a:off x="0" y="-57150"/>
              <a:ext cx="1010231" cy="4635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rot="-10800000">
            <a:off x="10571220" y="2272005"/>
            <a:ext cx="2928275" cy="1116957"/>
            <a:chOff x="0" y="0"/>
            <a:chExt cx="1065441" cy="406400"/>
          </a:xfrm>
        </p:grpSpPr>
        <p:sp>
          <p:nvSpPr>
            <p:cNvPr id="21" name="Freeform 21"/>
            <p:cNvSpPr/>
            <p:nvPr/>
          </p:nvSpPr>
          <p:spPr>
            <a:xfrm>
              <a:off x="0" y="0"/>
              <a:ext cx="1065440" cy="406400"/>
            </a:xfrm>
            <a:custGeom>
              <a:avLst/>
              <a:gdLst/>
              <a:ahLst/>
              <a:cxnLst/>
              <a:rect l="l" t="t" r="r" b="b"/>
              <a:pathLst>
                <a:path w="1065440" h="406400">
                  <a:moveTo>
                    <a:pt x="862240" y="0"/>
                  </a:moveTo>
                  <a:cubicBezTo>
                    <a:pt x="974465" y="0"/>
                    <a:pt x="1065440" y="90976"/>
                    <a:pt x="1065440" y="203200"/>
                  </a:cubicBezTo>
                  <a:cubicBezTo>
                    <a:pt x="1065440" y="315424"/>
                    <a:pt x="974465" y="406400"/>
                    <a:pt x="862240" y="406400"/>
                  </a:cubicBezTo>
                  <a:lnTo>
                    <a:pt x="203200" y="406400"/>
                  </a:lnTo>
                  <a:cubicBezTo>
                    <a:pt x="90976" y="406400"/>
                    <a:pt x="0" y="315424"/>
                    <a:pt x="0" y="203200"/>
                  </a:cubicBezTo>
                  <a:cubicBezTo>
                    <a:pt x="0" y="90976"/>
                    <a:pt x="90976" y="0"/>
                    <a:pt x="203200" y="0"/>
                  </a:cubicBezTo>
                  <a:close/>
                </a:path>
              </a:pathLst>
            </a:custGeom>
            <a:gradFill rotWithShape="1">
              <a:gsLst>
                <a:gs pos="0">
                  <a:srgbClr val="FBBF24">
                    <a:alpha val="100000"/>
                  </a:srgbClr>
                </a:gs>
                <a:gs pos="100000">
                  <a:srgbClr val="F8FAFC">
                    <a:alpha val="0"/>
                  </a:srgbClr>
                </a:gs>
              </a:gsLst>
              <a:lin ang="0"/>
            </a:gradFill>
          </p:spPr>
        </p:sp>
        <p:sp>
          <p:nvSpPr>
            <p:cNvPr id="22" name="TextBox 22"/>
            <p:cNvSpPr txBox="1"/>
            <p:nvPr/>
          </p:nvSpPr>
          <p:spPr>
            <a:xfrm>
              <a:off x="0" y="-57150"/>
              <a:ext cx="1065441" cy="46355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rot="-10800000">
            <a:off x="12314164" y="276622"/>
            <a:ext cx="2956063" cy="1116957"/>
            <a:chOff x="0" y="0"/>
            <a:chExt cx="1075551" cy="406400"/>
          </a:xfrm>
        </p:grpSpPr>
        <p:sp>
          <p:nvSpPr>
            <p:cNvPr id="24" name="Freeform 24"/>
            <p:cNvSpPr/>
            <p:nvPr/>
          </p:nvSpPr>
          <p:spPr>
            <a:xfrm>
              <a:off x="0" y="0"/>
              <a:ext cx="1075551" cy="406400"/>
            </a:xfrm>
            <a:custGeom>
              <a:avLst/>
              <a:gdLst/>
              <a:ahLst/>
              <a:cxnLst/>
              <a:rect l="l" t="t" r="r" b="b"/>
              <a:pathLst>
                <a:path w="1075551" h="406400">
                  <a:moveTo>
                    <a:pt x="872351" y="0"/>
                  </a:moveTo>
                  <a:cubicBezTo>
                    <a:pt x="984575" y="0"/>
                    <a:pt x="1075551" y="90976"/>
                    <a:pt x="1075551" y="203200"/>
                  </a:cubicBezTo>
                  <a:cubicBezTo>
                    <a:pt x="1075551" y="315424"/>
                    <a:pt x="984575" y="406400"/>
                    <a:pt x="872351"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25" name="TextBox 25"/>
            <p:cNvSpPr txBox="1"/>
            <p:nvPr/>
          </p:nvSpPr>
          <p:spPr>
            <a:xfrm>
              <a:off x="0" y="-57150"/>
              <a:ext cx="1075551" cy="46355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rot="-10800000">
            <a:off x="13792196" y="4391422"/>
            <a:ext cx="3138708" cy="1116957"/>
            <a:chOff x="0" y="0"/>
            <a:chExt cx="1142006" cy="406400"/>
          </a:xfrm>
        </p:grpSpPr>
        <p:sp>
          <p:nvSpPr>
            <p:cNvPr id="27" name="Freeform 27"/>
            <p:cNvSpPr/>
            <p:nvPr/>
          </p:nvSpPr>
          <p:spPr>
            <a:xfrm>
              <a:off x="0" y="0"/>
              <a:ext cx="1142006" cy="406400"/>
            </a:xfrm>
            <a:custGeom>
              <a:avLst/>
              <a:gdLst/>
              <a:ahLst/>
              <a:cxnLst/>
              <a:rect l="l" t="t" r="r" b="b"/>
              <a:pathLst>
                <a:path w="1142006" h="406400">
                  <a:moveTo>
                    <a:pt x="938806" y="0"/>
                  </a:moveTo>
                  <a:cubicBezTo>
                    <a:pt x="1051030" y="0"/>
                    <a:pt x="1142006" y="90976"/>
                    <a:pt x="1142006" y="203200"/>
                  </a:cubicBezTo>
                  <a:cubicBezTo>
                    <a:pt x="1142006" y="315424"/>
                    <a:pt x="1051030" y="406400"/>
                    <a:pt x="938806"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28" name="TextBox 28"/>
            <p:cNvSpPr txBox="1"/>
            <p:nvPr/>
          </p:nvSpPr>
          <p:spPr>
            <a:xfrm>
              <a:off x="0" y="-57150"/>
              <a:ext cx="1142006" cy="46355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rot="-10800000">
            <a:off x="12872720" y="2272005"/>
            <a:ext cx="2914381" cy="1116957"/>
            <a:chOff x="0" y="0"/>
            <a:chExt cx="1060385" cy="406400"/>
          </a:xfrm>
        </p:grpSpPr>
        <p:sp>
          <p:nvSpPr>
            <p:cNvPr id="30" name="Freeform 30"/>
            <p:cNvSpPr/>
            <p:nvPr/>
          </p:nvSpPr>
          <p:spPr>
            <a:xfrm>
              <a:off x="0" y="0"/>
              <a:ext cx="1060385" cy="406400"/>
            </a:xfrm>
            <a:custGeom>
              <a:avLst/>
              <a:gdLst/>
              <a:ahLst/>
              <a:cxnLst/>
              <a:rect l="l" t="t" r="r" b="b"/>
              <a:pathLst>
                <a:path w="1060385" h="406400">
                  <a:moveTo>
                    <a:pt x="857185" y="0"/>
                  </a:moveTo>
                  <a:cubicBezTo>
                    <a:pt x="969409" y="0"/>
                    <a:pt x="1060385" y="90976"/>
                    <a:pt x="1060385" y="203200"/>
                  </a:cubicBezTo>
                  <a:cubicBezTo>
                    <a:pt x="1060385" y="315424"/>
                    <a:pt x="969409" y="406400"/>
                    <a:pt x="857185" y="406400"/>
                  </a:cubicBezTo>
                  <a:lnTo>
                    <a:pt x="203200" y="406400"/>
                  </a:lnTo>
                  <a:cubicBezTo>
                    <a:pt x="90976" y="406400"/>
                    <a:pt x="0" y="315424"/>
                    <a:pt x="0" y="203200"/>
                  </a:cubicBezTo>
                  <a:cubicBezTo>
                    <a:pt x="0" y="90976"/>
                    <a:pt x="90976" y="0"/>
                    <a:pt x="203200" y="0"/>
                  </a:cubicBezTo>
                  <a:close/>
                </a:path>
              </a:pathLst>
            </a:custGeom>
            <a:gradFill rotWithShape="1">
              <a:gsLst>
                <a:gs pos="0">
                  <a:srgbClr val="FBBF24">
                    <a:alpha val="100000"/>
                  </a:srgbClr>
                </a:gs>
                <a:gs pos="100000">
                  <a:srgbClr val="F8FAFC">
                    <a:alpha val="0"/>
                  </a:srgbClr>
                </a:gs>
              </a:gsLst>
              <a:lin ang="0"/>
            </a:gradFill>
          </p:spPr>
        </p:sp>
        <p:sp>
          <p:nvSpPr>
            <p:cNvPr id="31" name="TextBox 31"/>
            <p:cNvSpPr txBox="1"/>
            <p:nvPr/>
          </p:nvSpPr>
          <p:spPr>
            <a:xfrm>
              <a:off x="0" y="-57150"/>
              <a:ext cx="1060385" cy="463550"/>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rot="-10800000">
            <a:off x="14643298" y="276622"/>
            <a:ext cx="2914535" cy="1116957"/>
            <a:chOff x="0" y="0"/>
            <a:chExt cx="1060441" cy="406400"/>
          </a:xfrm>
        </p:grpSpPr>
        <p:sp>
          <p:nvSpPr>
            <p:cNvPr id="33" name="Freeform 33"/>
            <p:cNvSpPr/>
            <p:nvPr/>
          </p:nvSpPr>
          <p:spPr>
            <a:xfrm>
              <a:off x="0" y="0"/>
              <a:ext cx="1060441" cy="406400"/>
            </a:xfrm>
            <a:custGeom>
              <a:avLst/>
              <a:gdLst/>
              <a:ahLst/>
              <a:cxnLst/>
              <a:rect l="l" t="t" r="r" b="b"/>
              <a:pathLst>
                <a:path w="1060441" h="406400">
                  <a:moveTo>
                    <a:pt x="857241" y="0"/>
                  </a:moveTo>
                  <a:cubicBezTo>
                    <a:pt x="969466" y="0"/>
                    <a:pt x="1060441" y="90976"/>
                    <a:pt x="1060441" y="203200"/>
                  </a:cubicBezTo>
                  <a:cubicBezTo>
                    <a:pt x="1060441" y="315424"/>
                    <a:pt x="969466" y="406400"/>
                    <a:pt x="857241"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34" name="TextBox 34"/>
            <p:cNvSpPr txBox="1"/>
            <p:nvPr/>
          </p:nvSpPr>
          <p:spPr>
            <a:xfrm>
              <a:off x="0" y="-57150"/>
              <a:ext cx="1060441" cy="463550"/>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a:off x="11866762" y="4391422"/>
            <a:ext cx="1168590" cy="1168590"/>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B6D4"/>
            </a:solidFill>
          </p:spPr>
        </p:sp>
        <p:sp>
          <p:nvSpPr>
            <p:cNvPr id="37" name="TextBox 37"/>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38" name="Group 38"/>
          <p:cNvGrpSpPr/>
          <p:nvPr/>
        </p:nvGrpSpPr>
        <p:grpSpPr>
          <a:xfrm>
            <a:off x="16389243" y="6844522"/>
            <a:ext cx="1168590" cy="1168590"/>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40" name="TextBox 40"/>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41" name="Group 41"/>
          <p:cNvGrpSpPr/>
          <p:nvPr/>
        </p:nvGrpSpPr>
        <p:grpSpPr>
          <a:xfrm>
            <a:off x="14034215" y="8841787"/>
            <a:ext cx="1168590" cy="1168590"/>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B6D4"/>
            </a:solidFill>
          </p:spPr>
        </p:sp>
        <p:sp>
          <p:nvSpPr>
            <p:cNvPr id="43" name="TextBox 43"/>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44" name="Group 44"/>
          <p:cNvGrpSpPr/>
          <p:nvPr/>
        </p:nvGrpSpPr>
        <p:grpSpPr>
          <a:xfrm>
            <a:off x="10096029" y="2272005"/>
            <a:ext cx="1168590" cy="1168590"/>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46" name="TextBox 46"/>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47" name="Group 47"/>
          <p:cNvGrpSpPr/>
          <p:nvPr/>
        </p:nvGrpSpPr>
        <p:grpSpPr>
          <a:xfrm>
            <a:off x="11866762" y="276622"/>
            <a:ext cx="1168590" cy="1168590"/>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B6D4"/>
            </a:solidFill>
          </p:spPr>
        </p:sp>
        <p:sp>
          <p:nvSpPr>
            <p:cNvPr id="49" name="TextBox 49"/>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50" name="Group 50"/>
          <p:cNvGrpSpPr/>
          <p:nvPr/>
        </p:nvGrpSpPr>
        <p:grpSpPr>
          <a:xfrm>
            <a:off x="1003837" y="1028700"/>
            <a:ext cx="416513" cy="416513"/>
            <a:chOff x="0" y="0"/>
            <a:chExt cx="812800" cy="812800"/>
          </a:xfrm>
        </p:grpSpPr>
        <p:sp>
          <p:nvSpPr>
            <p:cNvPr id="51" name="Freeform 5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B6D4"/>
            </a:solidFill>
          </p:spPr>
        </p:sp>
        <p:sp>
          <p:nvSpPr>
            <p:cNvPr id="52" name="TextBox 52"/>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53" name="TextBox 53"/>
          <p:cNvSpPr txBox="1"/>
          <p:nvPr/>
        </p:nvSpPr>
        <p:spPr>
          <a:xfrm>
            <a:off x="1770131" y="5346454"/>
            <a:ext cx="9494489" cy="5795275"/>
          </a:xfrm>
          <a:prstGeom prst="rect">
            <a:avLst/>
          </a:prstGeom>
        </p:spPr>
        <p:txBody>
          <a:bodyPr lIns="0" tIns="0" rIns="0" bIns="0" rtlCol="0" anchor="t">
            <a:spAutoFit/>
          </a:bodyPr>
          <a:lstStyle/>
          <a:p>
            <a:pPr algn="l">
              <a:lnSpc>
                <a:spcPts val="7703"/>
              </a:lnSpc>
            </a:pPr>
            <a:r>
              <a:rPr lang="en-US" sz="5502" b="1" dirty="0">
                <a:solidFill>
                  <a:srgbClr val="F8FAFC"/>
                </a:solidFill>
                <a:latin typeface="Poppins Bold"/>
                <a:ea typeface="Poppins Bold"/>
                <a:cs typeface="Poppins Bold"/>
                <a:sym typeface="Poppins Bold"/>
              </a:rPr>
              <a:t>IT Ticket Analysis and Agent Performance</a:t>
            </a:r>
          </a:p>
          <a:p>
            <a:pPr algn="l">
              <a:lnSpc>
                <a:spcPts val="31856"/>
              </a:lnSpc>
            </a:pPr>
            <a:endParaRPr lang="en-US" sz="5502" b="1" dirty="0">
              <a:solidFill>
                <a:srgbClr val="F8FAFC"/>
              </a:solidFill>
              <a:latin typeface="Poppins Bold"/>
              <a:ea typeface="Poppins Bold"/>
              <a:cs typeface="Poppins Bold"/>
              <a:sym typeface="Poppins Bold"/>
            </a:endParaRPr>
          </a:p>
        </p:txBody>
      </p:sp>
      <p:sp>
        <p:nvSpPr>
          <p:cNvPr id="54" name="TextBox 54"/>
          <p:cNvSpPr txBox="1"/>
          <p:nvPr/>
        </p:nvSpPr>
        <p:spPr>
          <a:xfrm>
            <a:off x="1028700" y="8319307"/>
            <a:ext cx="2270249" cy="412713"/>
          </a:xfrm>
          <a:prstGeom prst="rect">
            <a:avLst/>
          </a:prstGeom>
        </p:spPr>
        <p:txBody>
          <a:bodyPr lIns="0" tIns="0" rIns="0" bIns="0" rtlCol="0" anchor="t">
            <a:spAutoFit/>
          </a:bodyPr>
          <a:lstStyle/>
          <a:p>
            <a:pPr algn="l">
              <a:lnSpc>
                <a:spcPts val="3499"/>
              </a:lnSpc>
            </a:pPr>
            <a:r>
              <a:rPr lang="en-US" sz="2499">
                <a:solidFill>
                  <a:srgbClr val="06B6D4"/>
                </a:solidFill>
                <a:latin typeface="Inter 1"/>
                <a:ea typeface="Inter 1"/>
                <a:cs typeface="Inter 1"/>
                <a:sym typeface="Inter 1"/>
              </a:rPr>
              <a:t>Presented by:</a:t>
            </a:r>
          </a:p>
        </p:txBody>
      </p:sp>
      <p:sp>
        <p:nvSpPr>
          <p:cNvPr id="55" name="TextBox 55"/>
          <p:cNvSpPr txBox="1"/>
          <p:nvPr/>
        </p:nvSpPr>
        <p:spPr>
          <a:xfrm>
            <a:off x="1003837" y="8845587"/>
            <a:ext cx="2620721" cy="412750"/>
          </a:xfrm>
          <a:prstGeom prst="rect">
            <a:avLst/>
          </a:prstGeom>
        </p:spPr>
        <p:txBody>
          <a:bodyPr lIns="0" tIns="0" rIns="0" bIns="0" rtlCol="0" anchor="t">
            <a:spAutoFit/>
          </a:bodyPr>
          <a:lstStyle/>
          <a:p>
            <a:pPr algn="l">
              <a:lnSpc>
                <a:spcPts val="3499"/>
              </a:lnSpc>
            </a:pPr>
            <a:r>
              <a:rPr lang="en-US" sz="2499" b="1">
                <a:solidFill>
                  <a:srgbClr val="F8FAFC"/>
                </a:solidFill>
                <a:latin typeface="Inter 1 Bold"/>
                <a:ea typeface="Inter 1 Bold"/>
                <a:cs typeface="Inter 1 Bold"/>
                <a:sym typeface="Inter 1 Bold"/>
              </a:rPr>
              <a:t>Palak singh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7813885">
            <a:off x="8729675" y="2643314"/>
            <a:ext cx="2598127" cy="844761"/>
            <a:chOff x="0" y="0"/>
            <a:chExt cx="1249914" cy="406400"/>
          </a:xfrm>
        </p:grpSpPr>
        <p:sp>
          <p:nvSpPr>
            <p:cNvPr id="3" name="Freeform 3"/>
            <p:cNvSpPr/>
            <p:nvPr/>
          </p:nvSpPr>
          <p:spPr>
            <a:xfrm>
              <a:off x="0" y="0"/>
              <a:ext cx="1249914" cy="406400"/>
            </a:xfrm>
            <a:custGeom>
              <a:avLst/>
              <a:gdLst/>
              <a:ahLst/>
              <a:cxnLst/>
              <a:rect l="l" t="t" r="r" b="b"/>
              <a:pathLst>
                <a:path w="1249914" h="406400">
                  <a:moveTo>
                    <a:pt x="1046714" y="0"/>
                  </a:moveTo>
                  <a:cubicBezTo>
                    <a:pt x="1158938" y="0"/>
                    <a:pt x="1249914" y="90976"/>
                    <a:pt x="1249914" y="203200"/>
                  </a:cubicBezTo>
                  <a:cubicBezTo>
                    <a:pt x="1249914" y="315424"/>
                    <a:pt x="1158938" y="406400"/>
                    <a:pt x="1046714" y="406400"/>
                  </a:cubicBezTo>
                  <a:lnTo>
                    <a:pt x="203200" y="406400"/>
                  </a:lnTo>
                  <a:cubicBezTo>
                    <a:pt x="90976" y="406400"/>
                    <a:pt x="0" y="315424"/>
                    <a:pt x="0" y="203200"/>
                  </a:cubicBezTo>
                  <a:cubicBezTo>
                    <a:pt x="0" y="90976"/>
                    <a:pt x="90976" y="0"/>
                    <a:pt x="203200" y="0"/>
                  </a:cubicBezTo>
                  <a:close/>
                </a:path>
              </a:pathLst>
            </a:custGeom>
            <a:gradFill rotWithShape="1">
              <a:gsLst>
                <a:gs pos="0">
                  <a:srgbClr val="FBBF24">
                    <a:alpha val="100000"/>
                  </a:srgbClr>
                </a:gs>
                <a:gs pos="100000">
                  <a:srgbClr val="F8FAFC">
                    <a:alpha val="0"/>
                  </a:srgbClr>
                </a:gs>
              </a:gsLst>
              <a:lin ang="0"/>
            </a:gradFill>
          </p:spPr>
        </p:sp>
        <p:sp>
          <p:nvSpPr>
            <p:cNvPr id="4" name="TextBox 4"/>
            <p:cNvSpPr txBox="1"/>
            <p:nvPr/>
          </p:nvSpPr>
          <p:spPr>
            <a:xfrm>
              <a:off x="0" y="-57150"/>
              <a:ext cx="1249914" cy="4635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7813885">
            <a:off x="13865064" y="7271759"/>
            <a:ext cx="2598127" cy="844761"/>
            <a:chOff x="0" y="0"/>
            <a:chExt cx="1249914" cy="406400"/>
          </a:xfrm>
        </p:grpSpPr>
        <p:sp>
          <p:nvSpPr>
            <p:cNvPr id="6" name="Freeform 6"/>
            <p:cNvSpPr/>
            <p:nvPr/>
          </p:nvSpPr>
          <p:spPr>
            <a:xfrm>
              <a:off x="0" y="0"/>
              <a:ext cx="1249914" cy="406400"/>
            </a:xfrm>
            <a:custGeom>
              <a:avLst/>
              <a:gdLst/>
              <a:ahLst/>
              <a:cxnLst/>
              <a:rect l="l" t="t" r="r" b="b"/>
              <a:pathLst>
                <a:path w="1249914" h="406400">
                  <a:moveTo>
                    <a:pt x="1046714" y="0"/>
                  </a:moveTo>
                  <a:cubicBezTo>
                    <a:pt x="1158938" y="0"/>
                    <a:pt x="1249914" y="90976"/>
                    <a:pt x="1249914" y="203200"/>
                  </a:cubicBezTo>
                  <a:cubicBezTo>
                    <a:pt x="1249914" y="315424"/>
                    <a:pt x="1158938" y="406400"/>
                    <a:pt x="1046714"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7" name="TextBox 7"/>
            <p:cNvSpPr txBox="1"/>
            <p:nvPr/>
          </p:nvSpPr>
          <p:spPr>
            <a:xfrm>
              <a:off x="0" y="-57150"/>
              <a:ext cx="1249914" cy="46355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rot="3378727">
            <a:off x="14937064" y="7322388"/>
            <a:ext cx="2598127" cy="844761"/>
            <a:chOff x="0" y="0"/>
            <a:chExt cx="1249914" cy="406400"/>
          </a:xfrm>
        </p:grpSpPr>
        <p:sp>
          <p:nvSpPr>
            <p:cNvPr id="9" name="Freeform 9"/>
            <p:cNvSpPr/>
            <p:nvPr/>
          </p:nvSpPr>
          <p:spPr>
            <a:xfrm>
              <a:off x="0" y="0"/>
              <a:ext cx="1249914" cy="406400"/>
            </a:xfrm>
            <a:custGeom>
              <a:avLst/>
              <a:gdLst/>
              <a:ahLst/>
              <a:cxnLst/>
              <a:rect l="l" t="t" r="r" b="b"/>
              <a:pathLst>
                <a:path w="1249914" h="406400">
                  <a:moveTo>
                    <a:pt x="1046714" y="0"/>
                  </a:moveTo>
                  <a:cubicBezTo>
                    <a:pt x="1158938" y="0"/>
                    <a:pt x="1249914" y="90976"/>
                    <a:pt x="1249914" y="203200"/>
                  </a:cubicBezTo>
                  <a:cubicBezTo>
                    <a:pt x="1249914" y="315424"/>
                    <a:pt x="1158938" y="406400"/>
                    <a:pt x="1046714"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10" name="TextBox 10"/>
            <p:cNvSpPr txBox="1"/>
            <p:nvPr/>
          </p:nvSpPr>
          <p:spPr>
            <a:xfrm>
              <a:off x="0" y="-57150"/>
              <a:ext cx="1249914" cy="4635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2986114">
            <a:off x="8816000" y="3565162"/>
            <a:ext cx="883812" cy="883812"/>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rot="-2986114">
            <a:off x="13951389" y="8193608"/>
            <a:ext cx="883812" cy="88381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B6D4"/>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rot="-7421272">
            <a:off x="16407030" y="8203585"/>
            <a:ext cx="883812" cy="88381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B6D4"/>
            </a:solidFill>
          </p:spPr>
        </p:sp>
        <p:sp>
          <p:nvSpPr>
            <p:cNvPr id="19" name="TextBox 19"/>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20"/>
          <p:cNvSpPr txBox="1"/>
          <p:nvPr/>
        </p:nvSpPr>
        <p:spPr>
          <a:xfrm>
            <a:off x="901386" y="3871640"/>
            <a:ext cx="7606420" cy="758215"/>
          </a:xfrm>
          <a:prstGeom prst="rect">
            <a:avLst/>
          </a:prstGeom>
        </p:spPr>
        <p:txBody>
          <a:bodyPr lIns="0" tIns="0" rIns="0" bIns="0" rtlCol="0" anchor="t">
            <a:spAutoFit/>
          </a:bodyPr>
          <a:lstStyle/>
          <a:p>
            <a:pPr algn="l">
              <a:lnSpc>
                <a:spcPts val="5280"/>
              </a:lnSpc>
            </a:pPr>
            <a:r>
              <a:rPr lang="en-US" sz="5500" b="1" dirty="0">
                <a:solidFill>
                  <a:srgbClr val="F8FAFC"/>
                </a:solidFill>
                <a:latin typeface="Poppins Bold"/>
                <a:ea typeface="Poppins Bold"/>
                <a:cs typeface="Poppins Bold"/>
                <a:sym typeface="Poppins Bold"/>
              </a:rPr>
              <a:t>Problem Statement</a:t>
            </a:r>
          </a:p>
        </p:txBody>
      </p:sp>
      <p:sp>
        <p:nvSpPr>
          <p:cNvPr id="21" name="TextBox 21"/>
          <p:cNvSpPr txBox="1"/>
          <p:nvPr/>
        </p:nvSpPr>
        <p:spPr>
          <a:xfrm>
            <a:off x="901386" y="5399702"/>
            <a:ext cx="7351792" cy="2501398"/>
          </a:xfrm>
          <a:prstGeom prst="rect">
            <a:avLst/>
          </a:prstGeom>
        </p:spPr>
        <p:txBody>
          <a:bodyPr lIns="0" tIns="0" rIns="0" bIns="0" rtlCol="0" anchor="t">
            <a:spAutoFit/>
          </a:bodyPr>
          <a:lstStyle/>
          <a:p>
            <a:pPr algn="l">
              <a:lnSpc>
                <a:spcPts val="3359"/>
              </a:lnSpc>
            </a:pPr>
            <a:r>
              <a:rPr lang="en-US" sz="2400" dirty="0">
                <a:solidFill>
                  <a:srgbClr val="F8FAFC"/>
                </a:solidFill>
                <a:latin typeface="Inter 1"/>
                <a:ea typeface="Inter 1"/>
                <a:cs typeface="Inter 1"/>
                <a:sym typeface="Inter 1"/>
              </a:rPr>
              <a:t>This project analyzes 97,498 IT support tickets logged between 2016–2020 across 50 agents. It examines ticket volume trends, category-wise resolution times, and agent performance to identify where operational improvements and training investments will have the greatest impact.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a:off x="1028700" y="5325311"/>
            <a:ext cx="1168590" cy="116859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7704766" y="5325311"/>
            <a:ext cx="1168590" cy="116859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7861279"/>
            <a:ext cx="1168590" cy="116859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10" name="TextBox 10"/>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7704766" y="7861279"/>
            <a:ext cx="1168590" cy="116859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rot="-10800000">
            <a:off x="7337518" y="1184772"/>
            <a:ext cx="4800261" cy="1602234"/>
            <a:chOff x="0" y="0"/>
            <a:chExt cx="1217566" cy="406400"/>
          </a:xfrm>
        </p:grpSpPr>
        <p:sp>
          <p:nvSpPr>
            <p:cNvPr id="15" name="Freeform 15"/>
            <p:cNvSpPr/>
            <p:nvPr/>
          </p:nvSpPr>
          <p:spPr>
            <a:xfrm>
              <a:off x="0" y="0"/>
              <a:ext cx="1217566" cy="406400"/>
            </a:xfrm>
            <a:custGeom>
              <a:avLst/>
              <a:gdLst/>
              <a:ahLst/>
              <a:cxnLst/>
              <a:rect l="l" t="t" r="r" b="b"/>
              <a:pathLst>
                <a:path w="1217566" h="406400">
                  <a:moveTo>
                    <a:pt x="1014366" y="0"/>
                  </a:moveTo>
                  <a:cubicBezTo>
                    <a:pt x="1126591" y="0"/>
                    <a:pt x="1217566" y="90976"/>
                    <a:pt x="1217566" y="203200"/>
                  </a:cubicBezTo>
                  <a:cubicBezTo>
                    <a:pt x="1217566" y="315424"/>
                    <a:pt x="1126591" y="406400"/>
                    <a:pt x="1014366" y="406400"/>
                  </a:cubicBezTo>
                  <a:lnTo>
                    <a:pt x="203200" y="406400"/>
                  </a:lnTo>
                  <a:cubicBezTo>
                    <a:pt x="90976" y="406400"/>
                    <a:pt x="0" y="315424"/>
                    <a:pt x="0" y="203200"/>
                  </a:cubicBezTo>
                  <a:cubicBezTo>
                    <a:pt x="0" y="90976"/>
                    <a:pt x="90976" y="0"/>
                    <a:pt x="203200" y="0"/>
                  </a:cubicBezTo>
                  <a:close/>
                </a:path>
              </a:pathLst>
            </a:custGeom>
            <a:solidFill>
              <a:srgbClr val="06B6D4"/>
            </a:solidFill>
          </p:spPr>
        </p:sp>
        <p:sp>
          <p:nvSpPr>
            <p:cNvPr id="16" name="TextBox 16"/>
            <p:cNvSpPr txBox="1"/>
            <p:nvPr/>
          </p:nvSpPr>
          <p:spPr>
            <a:xfrm>
              <a:off x="0" y="-57150"/>
              <a:ext cx="1217566" cy="4635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7337518" y="1184772"/>
            <a:ext cx="1602234" cy="160223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6B6D4">
                    <a:alpha val="100000"/>
                  </a:srgbClr>
                </a:gs>
                <a:gs pos="100000">
                  <a:srgbClr val="F8FAFC">
                    <a:alpha val="100000"/>
                  </a:srgbClr>
                </a:gs>
              </a:gsLst>
              <a:lin ang="2700000"/>
            </a:gradFill>
          </p:spPr>
        </p:sp>
        <p:sp>
          <p:nvSpPr>
            <p:cNvPr id="19" name="TextBox 19"/>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8933311" y="1184772"/>
            <a:ext cx="1602234" cy="160223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6B6D4">
                    <a:alpha val="100000"/>
                  </a:srgbClr>
                </a:gs>
                <a:gs pos="100000">
                  <a:srgbClr val="F8FAFC">
                    <a:alpha val="100000"/>
                  </a:srgbClr>
                </a:gs>
              </a:gsLst>
              <a:lin ang="0"/>
            </a:gradFill>
          </p:spPr>
        </p:sp>
        <p:sp>
          <p:nvSpPr>
            <p:cNvPr id="22" name="TextBox 22"/>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23" name="Group 23"/>
          <p:cNvGrpSpPr/>
          <p:nvPr/>
        </p:nvGrpSpPr>
        <p:grpSpPr>
          <a:xfrm>
            <a:off x="10535545" y="1184772"/>
            <a:ext cx="1602234" cy="160223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6B6D4">
                    <a:alpha val="100000"/>
                  </a:srgbClr>
                </a:gs>
                <a:gs pos="100000">
                  <a:srgbClr val="F8FAFC">
                    <a:alpha val="100000"/>
                  </a:srgbClr>
                </a:gs>
              </a:gsLst>
              <a:path path="circle">
                <a:fillToRect r="100000" b="100000"/>
              </a:path>
              <a:tileRect l="-100000" t="-100000"/>
            </a:gradFill>
          </p:spPr>
        </p:sp>
        <p:sp>
          <p:nvSpPr>
            <p:cNvPr id="25" name="TextBox 25"/>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26" name="Freeform 26"/>
          <p:cNvSpPr/>
          <p:nvPr/>
        </p:nvSpPr>
        <p:spPr>
          <a:xfrm>
            <a:off x="8138636" y="5681558"/>
            <a:ext cx="473307" cy="456095"/>
          </a:xfrm>
          <a:custGeom>
            <a:avLst/>
            <a:gdLst/>
            <a:ahLst/>
            <a:cxnLst/>
            <a:rect l="l" t="t" r="r" b="b"/>
            <a:pathLst>
              <a:path w="473307" h="456095">
                <a:moveTo>
                  <a:pt x="0" y="0"/>
                </a:moveTo>
                <a:lnTo>
                  <a:pt x="473306" y="0"/>
                </a:lnTo>
                <a:lnTo>
                  <a:pt x="473306" y="456096"/>
                </a:lnTo>
                <a:lnTo>
                  <a:pt x="0" y="45609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7" name="Freeform 27"/>
          <p:cNvSpPr/>
          <p:nvPr/>
        </p:nvSpPr>
        <p:spPr>
          <a:xfrm>
            <a:off x="1414613" y="5681558"/>
            <a:ext cx="396764" cy="444440"/>
          </a:xfrm>
          <a:custGeom>
            <a:avLst/>
            <a:gdLst/>
            <a:ahLst/>
            <a:cxnLst/>
            <a:rect l="l" t="t" r="r" b="b"/>
            <a:pathLst>
              <a:path w="396764" h="444440">
                <a:moveTo>
                  <a:pt x="0" y="0"/>
                </a:moveTo>
                <a:lnTo>
                  <a:pt x="396764" y="0"/>
                </a:lnTo>
                <a:lnTo>
                  <a:pt x="396764" y="444440"/>
                </a:lnTo>
                <a:lnTo>
                  <a:pt x="0" y="44444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8" name="Freeform 28"/>
          <p:cNvSpPr/>
          <p:nvPr/>
        </p:nvSpPr>
        <p:spPr>
          <a:xfrm>
            <a:off x="1350294" y="8235892"/>
            <a:ext cx="525402" cy="575640"/>
          </a:xfrm>
          <a:custGeom>
            <a:avLst/>
            <a:gdLst/>
            <a:ahLst/>
            <a:cxnLst/>
            <a:rect l="l" t="t" r="r" b="b"/>
            <a:pathLst>
              <a:path w="525402" h="575640">
                <a:moveTo>
                  <a:pt x="0" y="0"/>
                </a:moveTo>
                <a:lnTo>
                  <a:pt x="525402" y="0"/>
                </a:lnTo>
                <a:lnTo>
                  <a:pt x="525402" y="575640"/>
                </a:lnTo>
                <a:lnTo>
                  <a:pt x="0" y="57564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9" name="Freeform 29"/>
          <p:cNvSpPr/>
          <p:nvPr/>
        </p:nvSpPr>
        <p:spPr>
          <a:xfrm>
            <a:off x="8037350" y="8157754"/>
            <a:ext cx="503423" cy="575640"/>
          </a:xfrm>
          <a:custGeom>
            <a:avLst/>
            <a:gdLst/>
            <a:ahLst/>
            <a:cxnLst/>
            <a:rect l="l" t="t" r="r" b="b"/>
            <a:pathLst>
              <a:path w="503423" h="575640">
                <a:moveTo>
                  <a:pt x="0" y="0"/>
                </a:moveTo>
                <a:lnTo>
                  <a:pt x="503423" y="0"/>
                </a:lnTo>
                <a:lnTo>
                  <a:pt x="503423" y="575640"/>
                </a:lnTo>
                <a:lnTo>
                  <a:pt x="0" y="57564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0" name="TextBox 30"/>
          <p:cNvSpPr txBox="1"/>
          <p:nvPr/>
        </p:nvSpPr>
        <p:spPr>
          <a:xfrm>
            <a:off x="1350294" y="2028791"/>
            <a:ext cx="5739392" cy="758215"/>
          </a:xfrm>
          <a:prstGeom prst="rect">
            <a:avLst/>
          </a:prstGeom>
        </p:spPr>
        <p:txBody>
          <a:bodyPr lIns="0" tIns="0" rIns="0" bIns="0" rtlCol="0" anchor="t">
            <a:spAutoFit/>
          </a:bodyPr>
          <a:lstStyle/>
          <a:p>
            <a:pPr algn="l">
              <a:lnSpc>
                <a:spcPts val="5280"/>
              </a:lnSpc>
            </a:pPr>
            <a:r>
              <a:rPr lang="en-US" sz="5500" b="1" dirty="0">
                <a:solidFill>
                  <a:srgbClr val="F8FAFC"/>
                </a:solidFill>
                <a:latin typeface="Poppins Bold"/>
                <a:ea typeface="Poppins Bold"/>
                <a:cs typeface="Poppins Bold"/>
                <a:sym typeface="Poppins Bold"/>
              </a:rPr>
              <a:t>Data Overview</a:t>
            </a:r>
          </a:p>
        </p:txBody>
      </p:sp>
      <p:sp>
        <p:nvSpPr>
          <p:cNvPr id="31" name="TextBox 31"/>
          <p:cNvSpPr txBox="1"/>
          <p:nvPr/>
        </p:nvSpPr>
        <p:spPr>
          <a:xfrm>
            <a:off x="2588035" y="5287211"/>
            <a:ext cx="2620721" cy="412713"/>
          </a:xfrm>
          <a:prstGeom prst="rect">
            <a:avLst/>
          </a:prstGeom>
        </p:spPr>
        <p:txBody>
          <a:bodyPr lIns="0" tIns="0" rIns="0" bIns="0" rtlCol="0" anchor="t">
            <a:spAutoFit/>
          </a:bodyPr>
          <a:lstStyle/>
          <a:p>
            <a:pPr algn="l">
              <a:lnSpc>
                <a:spcPts val="3499"/>
              </a:lnSpc>
            </a:pPr>
            <a:r>
              <a:rPr lang="en-US" sz="2499" b="1">
                <a:solidFill>
                  <a:srgbClr val="F8FAFC"/>
                </a:solidFill>
                <a:latin typeface="Inter 1 Bold"/>
                <a:ea typeface="Inter 1 Bold"/>
                <a:cs typeface="Inter 1 Bold"/>
                <a:sym typeface="Inter 1 Bold"/>
              </a:rPr>
              <a:t>Data Sources</a:t>
            </a:r>
          </a:p>
        </p:txBody>
      </p:sp>
      <p:sp>
        <p:nvSpPr>
          <p:cNvPr id="32" name="TextBox 32"/>
          <p:cNvSpPr txBox="1"/>
          <p:nvPr/>
        </p:nvSpPr>
        <p:spPr>
          <a:xfrm>
            <a:off x="9264101" y="5287211"/>
            <a:ext cx="2620721" cy="412713"/>
          </a:xfrm>
          <a:prstGeom prst="rect">
            <a:avLst/>
          </a:prstGeom>
        </p:spPr>
        <p:txBody>
          <a:bodyPr lIns="0" tIns="0" rIns="0" bIns="0" rtlCol="0" anchor="t">
            <a:spAutoFit/>
          </a:bodyPr>
          <a:lstStyle/>
          <a:p>
            <a:pPr algn="l">
              <a:lnSpc>
                <a:spcPts val="3499"/>
              </a:lnSpc>
            </a:pPr>
            <a:r>
              <a:rPr lang="en-US" sz="2499" b="1">
                <a:solidFill>
                  <a:srgbClr val="F8FAFC"/>
                </a:solidFill>
                <a:latin typeface="Inter 1 Bold"/>
                <a:ea typeface="Inter 1 Bold"/>
                <a:cs typeface="Inter 1 Bold"/>
                <a:sym typeface="Inter 1 Bold"/>
              </a:rPr>
              <a:t>Dataset Size</a:t>
            </a:r>
          </a:p>
        </p:txBody>
      </p:sp>
      <p:sp>
        <p:nvSpPr>
          <p:cNvPr id="33" name="TextBox 33"/>
          <p:cNvSpPr txBox="1"/>
          <p:nvPr/>
        </p:nvSpPr>
        <p:spPr>
          <a:xfrm>
            <a:off x="2588035" y="7823179"/>
            <a:ext cx="2620721" cy="412713"/>
          </a:xfrm>
          <a:prstGeom prst="rect">
            <a:avLst/>
          </a:prstGeom>
        </p:spPr>
        <p:txBody>
          <a:bodyPr lIns="0" tIns="0" rIns="0" bIns="0" rtlCol="0" anchor="t">
            <a:spAutoFit/>
          </a:bodyPr>
          <a:lstStyle/>
          <a:p>
            <a:pPr algn="l">
              <a:lnSpc>
                <a:spcPts val="3499"/>
              </a:lnSpc>
            </a:pPr>
            <a:r>
              <a:rPr lang="en-US" sz="2499" b="1">
                <a:solidFill>
                  <a:srgbClr val="F8FAFC"/>
                </a:solidFill>
                <a:latin typeface="Inter 1 Bold"/>
                <a:ea typeface="Inter 1 Bold"/>
                <a:cs typeface="Inter 1 Bold"/>
                <a:sym typeface="Inter 1 Bold"/>
              </a:rPr>
              <a:t>Collection Period</a:t>
            </a:r>
          </a:p>
        </p:txBody>
      </p:sp>
      <p:sp>
        <p:nvSpPr>
          <p:cNvPr id="34" name="TextBox 34"/>
          <p:cNvSpPr txBox="1"/>
          <p:nvPr/>
        </p:nvSpPr>
        <p:spPr>
          <a:xfrm>
            <a:off x="9264101" y="7932348"/>
            <a:ext cx="2620721" cy="412713"/>
          </a:xfrm>
          <a:prstGeom prst="rect">
            <a:avLst/>
          </a:prstGeom>
        </p:spPr>
        <p:txBody>
          <a:bodyPr lIns="0" tIns="0" rIns="0" bIns="0" rtlCol="0" anchor="t">
            <a:spAutoFit/>
          </a:bodyPr>
          <a:lstStyle/>
          <a:p>
            <a:pPr algn="l">
              <a:lnSpc>
                <a:spcPts val="3499"/>
              </a:lnSpc>
            </a:pPr>
            <a:r>
              <a:rPr lang="en-US" sz="2499" b="1">
                <a:solidFill>
                  <a:srgbClr val="F8FAFC"/>
                </a:solidFill>
                <a:latin typeface="Inter 1 Bold"/>
                <a:ea typeface="Inter 1 Bold"/>
                <a:cs typeface="Inter 1 Bold"/>
                <a:sym typeface="Inter 1 Bold"/>
              </a:rPr>
              <a:t>Data Categories</a:t>
            </a:r>
          </a:p>
        </p:txBody>
      </p:sp>
      <p:sp>
        <p:nvSpPr>
          <p:cNvPr id="35" name="TextBox 35"/>
          <p:cNvSpPr txBox="1"/>
          <p:nvPr/>
        </p:nvSpPr>
        <p:spPr>
          <a:xfrm>
            <a:off x="2588035" y="5861981"/>
            <a:ext cx="3478242" cy="1244032"/>
          </a:xfrm>
          <a:prstGeom prst="rect">
            <a:avLst/>
          </a:prstGeom>
        </p:spPr>
        <p:txBody>
          <a:bodyPr lIns="0" tIns="0" rIns="0" bIns="0" rtlCol="0" anchor="t">
            <a:spAutoFit/>
          </a:bodyPr>
          <a:lstStyle/>
          <a:p>
            <a:pPr algn="l">
              <a:lnSpc>
                <a:spcPts val="3359"/>
              </a:lnSpc>
            </a:pPr>
            <a:r>
              <a:rPr lang="en-US" sz="2400" dirty="0">
                <a:solidFill>
                  <a:srgbClr val="F8FAFC"/>
                </a:solidFill>
                <a:latin typeface="Inter 1"/>
                <a:ea typeface="Inter 1"/>
                <a:cs typeface="Inter 1"/>
                <a:sym typeface="Inter 1"/>
              </a:rPr>
              <a:t>Deployed data from the Tickets sheet and the IT Agents sheet.</a:t>
            </a:r>
          </a:p>
        </p:txBody>
      </p:sp>
      <p:sp>
        <p:nvSpPr>
          <p:cNvPr id="36" name="TextBox 36"/>
          <p:cNvSpPr txBox="1"/>
          <p:nvPr/>
        </p:nvSpPr>
        <p:spPr>
          <a:xfrm>
            <a:off x="9264101" y="5861981"/>
            <a:ext cx="3478242" cy="1244032"/>
          </a:xfrm>
          <a:prstGeom prst="rect">
            <a:avLst/>
          </a:prstGeom>
        </p:spPr>
        <p:txBody>
          <a:bodyPr lIns="0" tIns="0" rIns="0" bIns="0" rtlCol="0" anchor="t">
            <a:spAutoFit/>
          </a:bodyPr>
          <a:lstStyle/>
          <a:p>
            <a:pPr algn="l">
              <a:lnSpc>
                <a:spcPts val="3359"/>
              </a:lnSpc>
            </a:pPr>
            <a:r>
              <a:rPr lang="en-US" sz="2400">
                <a:solidFill>
                  <a:srgbClr val="F8FAFC"/>
                </a:solidFill>
                <a:latin typeface="Inter 1"/>
                <a:ea typeface="Inter 1"/>
                <a:cs typeface="Inter 1"/>
                <a:sym typeface="Inter 1"/>
              </a:rPr>
              <a:t>The dataset has exactly 97,498 fully filled rows with zero blank spaces.</a:t>
            </a:r>
          </a:p>
        </p:txBody>
      </p:sp>
      <p:sp>
        <p:nvSpPr>
          <p:cNvPr id="37" name="TextBox 37"/>
          <p:cNvSpPr txBox="1"/>
          <p:nvPr/>
        </p:nvSpPr>
        <p:spPr>
          <a:xfrm>
            <a:off x="2588035" y="8397949"/>
            <a:ext cx="3478242" cy="1244032"/>
          </a:xfrm>
          <a:prstGeom prst="rect">
            <a:avLst/>
          </a:prstGeom>
        </p:spPr>
        <p:txBody>
          <a:bodyPr lIns="0" tIns="0" rIns="0" bIns="0" rtlCol="0" anchor="t">
            <a:spAutoFit/>
          </a:bodyPr>
          <a:lstStyle/>
          <a:p>
            <a:pPr algn="l">
              <a:lnSpc>
                <a:spcPts val="3359"/>
              </a:lnSpc>
            </a:pPr>
            <a:r>
              <a:rPr lang="en-US" sz="2400">
                <a:solidFill>
                  <a:srgbClr val="F8FAFC"/>
                </a:solidFill>
                <a:latin typeface="Inter 1"/>
                <a:ea typeface="Inter 1"/>
                <a:cs typeface="Inter 1"/>
                <a:sym typeface="Inter 1"/>
              </a:rPr>
              <a:t>Covers a complete 5-year timeline from the year 2016 to 2020.</a:t>
            </a:r>
          </a:p>
        </p:txBody>
      </p:sp>
      <p:sp>
        <p:nvSpPr>
          <p:cNvPr id="38" name="TextBox 38"/>
          <p:cNvSpPr txBox="1"/>
          <p:nvPr/>
        </p:nvSpPr>
        <p:spPr>
          <a:xfrm>
            <a:off x="9264101" y="8550275"/>
            <a:ext cx="4207867" cy="1663154"/>
          </a:xfrm>
          <a:prstGeom prst="rect">
            <a:avLst/>
          </a:prstGeom>
        </p:spPr>
        <p:txBody>
          <a:bodyPr lIns="0" tIns="0" rIns="0" bIns="0" rtlCol="0" anchor="t">
            <a:spAutoFit/>
          </a:bodyPr>
          <a:lstStyle/>
          <a:p>
            <a:pPr algn="l">
              <a:lnSpc>
                <a:spcPts val="3359"/>
              </a:lnSpc>
            </a:pPr>
            <a:r>
              <a:rPr lang="en-US" sz="2400" b="1">
                <a:solidFill>
                  <a:srgbClr val="F8FAFC"/>
                </a:solidFill>
                <a:latin typeface="Inter 1 Bold"/>
                <a:ea typeface="Inter 1 Bold"/>
                <a:cs typeface="Inter 1 Bold"/>
                <a:sym typeface="Inter 1 Bold"/>
              </a:rPr>
              <a:t>16 attributes including categories, resolution speed, and agent ages.</a:t>
            </a:r>
          </a:p>
          <a:p>
            <a:pPr algn="l">
              <a:lnSpc>
                <a:spcPts val="3359"/>
              </a:lnSpc>
            </a:pPr>
            <a:endParaRPr lang="en-US" sz="2400" b="1">
              <a:solidFill>
                <a:srgbClr val="F8FAFC"/>
              </a:solidFill>
              <a:latin typeface="Inter 1 Bold"/>
              <a:ea typeface="Inter 1 Bold"/>
              <a:cs typeface="Inter 1 Bold"/>
              <a:sym typeface="Inter 1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a:off x="1028700" y="4225933"/>
            <a:ext cx="1168590" cy="116859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813020" y="4225933"/>
            <a:ext cx="1168590" cy="116859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28700" y="7423166"/>
            <a:ext cx="1168590" cy="116859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10" name="TextBox 10"/>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0813020" y="7642331"/>
            <a:ext cx="1168590" cy="116859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1411488" y="4474741"/>
            <a:ext cx="563764" cy="668759"/>
          </a:xfrm>
          <a:custGeom>
            <a:avLst/>
            <a:gdLst/>
            <a:ahLst/>
            <a:cxnLst/>
            <a:rect l="l" t="t" r="r" b="b"/>
            <a:pathLst>
              <a:path w="563764" h="668759">
                <a:moveTo>
                  <a:pt x="0" y="0"/>
                </a:moveTo>
                <a:lnTo>
                  <a:pt x="563764" y="0"/>
                </a:lnTo>
                <a:lnTo>
                  <a:pt x="563764" y="668759"/>
                </a:lnTo>
                <a:lnTo>
                  <a:pt x="0" y="66875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5" name="Freeform 15"/>
          <p:cNvSpPr/>
          <p:nvPr/>
        </p:nvSpPr>
        <p:spPr>
          <a:xfrm>
            <a:off x="11095795" y="4474741"/>
            <a:ext cx="603041" cy="603041"/>
          </a:xfrm>
          <a:custGeom>
            <a:avLst/>
            <a:gdLst/>
            <a:ahLst/>
            <a:cxnLst/>
            <a:rect l="l" t="t" r="r" b="b"/>
            <a:pathLst>
              <a:path w="603041" h="603041">
                <a:moveTo>
                  <a:pt x="0" y="0"/>
                </a:moveTo>
                <a:lnTo>
                  <a:pt x="603041" y="0"/>
                </a:lnTo>
                <a:lnTo>
                  <a:pt x="603041" y="603041"/>
                </a:lnTo>
                <a:lnTo>
                  <a:pt x="0" y="60304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Freeform 16"/>
          <p:cNvSpPr/>
          <p:nvPr/>
        </p:nvSpPr>
        <p:spPr>
          <a:xfrm>
            <a:off x="1411488" y="7642331"/>
            <a:ext cx="576175" cy="730260"/>
          </a:xfrm>
          <a:custGeom>
            <a:avLst/>
            <a:gdLst/>
            <a:ahLst/>
            <a:cxnLst/>
            <a:rect l="l" t="t" r="r" b="b"/>
            <a:pathLst>
              <a:path w="576175" h="730260">
                <a:moveTo>
                  <a:pt x="0" y="0"/>
                </a:moveTo>
                <a:lnTo>
                  <a:pt x="576176" y="0"/>
                </a:lnTo>
                <a:lnTo>
                  <a:pt x="576176" y="730261"/>
                </a:lnTo>
                <a:lnTo>
                  <a:pt x="0" y="73026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7" name="Freeform 17"/>
          <p:cNvSpPr/>
          <p:nvPr/>
        </p:nvSpPr>
        <p:spPr>
          <a:xfrm>
            <a:off x="11155882" y="7955150"/>
            <a:ext cx="542954" cy="542954"/>
          </a:xfrm>
          <a:custGeom>
            <a:avLst/>
            <a:gdLst/>
            <a:ahLst/>
            <a:cxnLst/>
            <a:rect l="l" t="t" r="r" b="b"/>
            <a:pathLst>
              <a:path w="542954" h="542954">
                <a:moveTo>
                  <a:pt x="0" y="0"/>
                </a:moveTo>
                <a:lnTo>
                  <a:pt x="542954" y="0"/>
                </a:lnTo>
                <a:lnTo>
                  <a:pt x="542954" y="542954"/>
                </a:lnTo>
                <a:lnTo>
                  <a:pt x="0" y="542954"/>
                </a:lnTo>
                <a:lnTo>
                  <a:pt x="0" y="0"/>
                </a:lnTo>
                <a:close/>
              </a:path>
            </a:pathLst>
          </a:custGeom>
          <a:blipFill>
            <a:blip>
              <a:extLst>
                <a:ext uri="{96DAC541-7B7A-43D3-8B79-37D633B846F1}">
                  <asvg:svgBlip xmlns:asvg="http://schemas.microsoft.com/office/drawing/2016/SVG/main" r:embed="rId5"/>
                </a:ext>
              </a:extLst>
            </a:blip>
            <a:stretch>
              <a:fillRect/>
            </a:stretch>
          </a:blipFill>
        </p:spPr>
      </p:sp>
      <p:grpSp>
        <p:nvGrpSpPr>
          <p:cNvPr id="18" name="Group 18"/>
          <p:cNvGrpSpPr/>
          <p:nvPr/>
        </p:nvGrpSpPr>
        <p:grpSpPr>
          <a:xfrm rot="-10800000">
            <a:off x="1176360" y="986492"/>
            <a:ext cx="4800261" cy="1602234"/>
            <a:chOff x="0" y="0"/>
            <a:chExt cx="1217566" cy="406400"/>
          </a:xfrm>
        </p:grpSpPr>
        <p:sp>
          <p:nvSpPr>
            <p:cNvPr id="19" name="Freeform 19"/>
            <p:cNvSpPr/>
            <p:nvPr/>
          </p:nvSpPr>
          <p:spPr>
            <a:xfrm>
              <a:off x="0" y="0"/>
              <a:ext cx="1217566" cy="406400"/>
            </a:xfrm>
            <a:custGeom>
              <a:avLst/>
              <a:gdLst/>
              <a:ahLst/>
              <a:cxnLst/>
              <a:rect l="l" t="t" r="r" b="b"/>
              <a:pathLst>
                <a:path w="1217566" h="406400">
                  <a:moveTo>
                    <a:pt x="1014366" y="0"/>
                  </a:moveTo>
                  <a:cubicBezTo>
                    <a:pt x="1126591" y="0"/>
                    <a:pt x="1217566" y="90976"/>
                    <a:pt x="1217566" y="203200"/>
                  </a:cubicBezTo>
                  <a:cubicBezTo>
                    <a:pt x="1217566" y="315424"/>
                    <a:pt x="1126591" y="406400"/>
                    <a:pt x="1014366" y="406400"/>
                  </a:cubicBezTo>
                  <a:lnTo>
                    <a:pt x="203200" y="406400"/>
                  </a:lnTo>
                  <a:cubicBezTo>
                    <a:pt x="90976" y="406400"/>
                    <a:pt x="0" y="315424"/>
                    <a:pt x="0" y="203200"/>
                  </a:cubicBezTo>
                  <a:cubicBezTo>
                    <a:pt x="0" y="90976"/>
                    <a:pt x="90976" y="0"/>
                    <a:pt x="203200" y="0"/>
                  </a:cubicBezTo>
                  <a:close/>
                </a:path>
              </a:pathLst>
            </a:custGeom>
            <a:solidFill>
              <a:srgbClr val="06B6D4"/>
            </a:solidFill>
          </p:spPr>
        </p:sp>
        <p:sp>
          <p:nvSpPr>
            <p:cNvPr id="20" name="TextBox 20"/>
            <p:cNvSpPr txBox="1"/>
            <p:nvPr/>
          </p:nvSpPr>
          <p:spPr>
            <a:xfrm>
              <a:off x="0" y="-57150"/>
              <a:ext cx="1217566" cy="46355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176360" y="986492"/>
            <a:ext cx="1602234" cy="1602234"/>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6B6D4">
                    <a:alpha val="100000"/>
                  </a:srgbClr>
                </a:gs>
                <a:gs pos="100000">
                  <a:srgbClr val="F8FAFC">
                    <a:alpha val="100000"/>
                  </a:srgbClr>
                </a:gs>
              </a:gsLst>
              <a:lin ang="2700000"/>
            </a:gradFill>
          </p:spPr>
        </p:sp>
        <p:sp>
          <p:nvSpPr>
            <p:cNvPr id="23" name="TextBox 23"/>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24" name="Group 24"/>
          <p:cNvGrpSpPr/>
          <p:nvPr/>
        </p:nvGrpSpPr>
        <p:grpSpPr>
          <a:xfrm>
            <a:off x="2772153" y="986492"/>
            <a:ext cx="1602234" cy="1602234"/>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6B6D4">
                    <a:alpha val="100000"/>
                  </a:srgbClr>
                </a:gs>
                <a:gs pos="100000">
                  <a:srgbClr val="F8FAFC">
                    <a:alpha val="100000"/>
                  </a:srgbClr>
                </a:gs>
              </a:gsLst>
              <a:lin ang="0"/>
            </a:gradFill>
          </p:spPr>
        </p:sp>
        <p:sp>
          <p:nvSpPr>
            <p:cNvPr id="26" name="TextBox 26"/>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2946731" y="986492"/>
            <a:ext cx="1570427" cy="1570427"/>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6B6D4">
                    <a:alpha val="100000"/>
                  </a:srgbClr>
                </a:gs>
                <a:gs pos="100000">
                  <a:srgbClr val="F8FAFC">
                    <a:alpha val="100000"/>
                  </a:srgbClr>
                </a:gs>
              </a:gsLst>
              <a:path path="circle">
                <a:fillToRect r="100000" b="100000"/>
              </a:path>
              <a:tileRect l="-100000" t="-100000"/>
            </a:gradFill>
          </p:spPr>
        </p:sp>
        <p:sp>
          <p:nvSpPr>
            <p:cNvPr id="29" name="TextBox 29"/>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30" name="TextBox 30"/>
          <p:cNvSpPr txBox="1"/>
          <p:nvPr/>
        </p:nvSpPr>
        <p:spPr>
          <a:xfrm>
            <a:off x="8614158" y="1256151"/>
            <a:ext cx="7019920" cy="758215"/>
          </a:xfrm>
          <a:prstGeom prst="rect">
            <a:avLst/>
          </a:prstGeom>
        </p:spPr>
        <p:txBody>
          <a:bodyPr lIns="0" tIns="0" rIns="0" bIns="0" rtlCol="0" anchor="t">
            <a:spAutoFit/>
          </a:bodyPr>
          <a:lstStyle/>
          <a:p>
            <a:pPr algn="l">
              <a:lnSpc>
                <a:spcPts val="5280"/>
              </a:lnSpc>
            </a:pPr>
            <a:r>
              <a:rPr lang="en-US" sz="5500" b="1" dirty="0">
                <a:solidFill>
                  <a:srgbClr val="F8FAFC"/>
                </a:solidFill>
                <a:latin typeface="Poppins Bold"/>
                <a:ea typeface="Poppins Bold"/>
                <a:cs typeface="Poppins Bold"/>
                <a:sym typeface="Poppins Bold"/>
              </a:rPr>
              <a:t>Methodology</a:t>
            </a:r>
          </a:p>
        </p:txBody>
      </p:sp>
      <p:sp>
        <p:nvSpPr>
          <p:cNvPr id="31" name="TextBox 31"/>
          <p:cNvSpPr txBox="1"/>
          <p:nvPr/>
        </p:nvSpPr>
        <p:spPr>
          <a:xfrm>
            <a:off x="2588035" y="4187833"/>
            <a:ext cx="2620721" cy="412713"/>
          </a:xfrm>
          <a:prstGeom prst="rect">
            <a:avLst/>
          </a:prstGeom>
        </p:spPr>
        <p:txBody>
          <a:bodyPr lIns="0" tIns="0" rIns="0" bIns="0" rtlCol="0" anchor="t">
            <a:spAutoFit/>
          </a:bodyPr>
          <a:lstStyle/>
          <a:p>
            <a:pPr algn="l">
              <a:lnSpc>
                <a:spcPts val="3499"/>
              </a:lnSpc>
            </a:pPr>
            <a:r>
              <a:rPr lang="en-US" sz="2499" b="1">
                <a:solidFill>
                  <a:srgbClr val="F8FAFC"/>
                </a:solidFill>
                <a:latin typeface="Inter 1 Bold"/>
                <a:ea typeface="Inter 1 Bold"/>
                <a:cs typeface="Inter 1 Bold"/>
                <a:sym typeface="Inter 1 Bold"/>
              </a:rPr>
              <a:t>Data Collection</a:t>
            </a:r>
          </a:p>
        </p:txBody>
      </p:sp>
      <p:sp>
        <p:nvSpPr>
          <p:cNvPr id="32" name="TextBox 32"/>
          <p:cNvSpPr txBox="1"/>
          <p:nvPr/>
        </p:nvSpPr>
        <p:spPr>
          <a:xfrm>
            <a:off x="12372136" y="7416899"/>
            <a:ext cx="2620721" cy="412765"/>
          </a:xfrm>
          <a:prstGeom prst="rect">
            <a:avLst/>
          </a:prstGeom>
        </p:spPr>
        <p:txBody>
          <a:bodyPr lIns="0" tIns="0" rIns="0" bIns="0" rtlCol="0" anchor="t">
            <a:spAutoFit/>
          </a:bodyPr>
          <a:lstStyle/>
          <a:p>
            <a:pPr algn="l">
              <a:lnSpc>
                <a:spcPts val="3499"/>
              </a:lnSpc>
            </a:pPr>
            <a:r>
              <a:rPr lang="en-US" sz="2499" b="1">
                <a:solidFill>
                  <a:srgbClr val="F8FAFC"/>
                </a:solidFill>
                <a:latin typeface="Inter 1 Bold"/>
                <a:ea typeface="Inter 1 Bold"/>
                <a:cs typeface="Inter 1 Bold"/>
                <a:sym typeface="Inter 1 Bold"/>
              </a:rPr>
              <a:t>Data Analysis</a:t>
            </a:r>
          </a:p>
        </p:txBody>
      </p:sp>
      <p:sp>
        <p:nvSpPr>
          <p:cNvPr id="33" name="TextBox 33"/>
          <p:cNvSpPr txBox="1"/>
          <p:nvPr/>
        </p:nvSpPr>
        <p:spPr>
          <a:xfrm>
            <a:off x="2588035" y="7385066"/>
            <a:ext cx="2620721" cy="412713"/>
          </a:xfrm>
          <a:prstGeom prst="rect">
            <a:avLst/>
          </a:prstGeom>
        </p:spPr>
        <p:txBody>
          <a:bodyPr lIns="0" tIns="0" rIns="0" bIns="0" rtlCol="0" anchor="t">
            <a:spAutoFit/>
          </a:bodyPr>
          <a:lstStyle/>
          <a:p>
            <a:pPr algn="l">
              <a:lnSpc>
                <a:spcPts val="3499"/>
              </a:lnSpc>
            </a:pPr>
            <a:r>
              <a:rPr lang="en-US" sz="2499" b="1">
                <a:solidFill>
                  <a:srgbClr val="F8FAFC"/>
                </a:solidFill>
                <a:latin typeface="Inter 1 Bold"/>
                <a:ea typeface="Inter 1 Bold"/>
                <a:cs typeface="Inter 1 Bold"/>
                <a:sym typeface="Inter 1 Bold"/>
              </a:rPr>
              <a:t>Data Cleaning</a:t>
            </a:r>
          </a:p>
        </p:txBody>
      </p:sp>
      <p:sp>
        <p:nvSpPr>
          <p:cNvPr id="34" name="TextBox 34"/>
          <p:cNvSpPr txBox="1"/>
          <p:nvPr/>
        </p:nvSpPr>
        <p:spPr>
          <a:xfrm>
            <a:off x="12372136" y="4187833"/>
            <a:ext cx="3460726" cy="412765"/>
          </a:xfrm>
          <a:prstGeom prst="rect">
            <a:avLst/>
          </a:prstGeom>
        </p:spPr>
        <p:txBody>
          <a:bodyPr lIns="0" tIns="0" rIns="0" bIns="0" rtlCol="0" anchor="t">
            <a:spAutoFit/>
          </a:bodyPr>
          <a:lstStyle/>
          <a:p>
            <a:pPr algn="l">
              <a:lnSpc>
                <a:spcPts val="3499"/>
              </a:lnSpc>
            </a:pPr>
            <a:r>
              <a:rPr lang="en-US" sz="2499" b="1">
                <a:solidFill>
                  <a:srgbClr val="F8FAFC"/>
                </a:solidFill>
                <a:latin typeface="Inter 1 Bold"/>
                <a:ea typeface="Inter 1 Bold"/>
                <a:cs typeface="Inter 1 Bold"/>
                <a:sym typeface="Inter 1 Bold"/>
              </a:rPr>
              <a:t>Data Visualization</a:t>
            </a:r>
          </a:p>
        </p:txBody>
      </p:sp>
      <p:sp>
        <p:nvSpPr>
          <p:cNvPr id="35" name="TextBox 35"/>
          <p:cNvSpPr txBox="1"/>
          <p:nvPr/>
        </p:nvSpPr>
        <p:spPr>
          <a:xfrm>
            <a:off x="2588035" y="4762603"/>
            <a:ext cx="3858244" cy="1663154"/>
          </a:xfrm>
          <a:prstGeom prst="rect">
            <a:avLst/>
          </a:prstGeom>
        </p:spPr>
        <p:txBody>
          <a:bodyPr lIns="0" tIns="0" rIns="0" bIns="0" rtlCol="0" anchor="t">
            <a:spAutoFit/>
          </a:bodyPr>
          <a:lstStyle/>
          <a:p>
            <a:pPr algn="l">
              <a:lnSpc>
                <a:spcPts val="3359"/>
              </a:lnSpc>
            </a:pPr>
            <a:r>
              <a:rPr lang="en-US" sz="2399" dirty="0">
                <a:solidFill>
                  <a:srgbClr val="F8FAFC"/>
                </a:solidFill>
                <a:latin typeface="Inter 1"/>
                <a:ea typeface="Inter 1"/>
                <a:cs typeface="Inter 1"/>
                <a:sym typeface="Inter 1"/>
              </a:rPr>
              <a:t>Collected IT ticket and agent data from the provided dataset.</a:t>
            </a:r>
          </a:p>
          <a:p>
            <a:pPr algn="l">
              <a:lnSpc>
                <a:spcPts val="3359"/>
              </a:lnSpc>
            </a:pPr>
            <a:endParaRPr lang="en-US" sz="2399" dirty="0">
              <a:solidFill>
                <a:srgbClr val="F8FAFC"/>
              </a:solidFill>
              <a:latin typeface="Inter 1"/>
              <a:ea typeface="Inter 1"/>
              <a:cs typeface="Inter 1"/>
              <a:sym typeface="Inter 1"/>
            </a:endParaRPr>
          </a:p>
        </p:txBody>
      </p:sp>
      <p:sp>
        <p:nvSpPr>
          <p:cNvPr id="36" name="TextBox 36"/>
          <p:cNvSpPr txBox="1"/>
          <p:nvPr/>
        </p:nvSpPr>
        <p:spPr>
          <a:xfrm>
            <a:off x="12372136" y="7983788"/>
            <a:ext cx="5603468" cy="2501398"/>
          </a:xfrm>
          <a:prstGeom prst="rect">
            <a:avLst/>
          </a:prstGeom>
        </p:spPr>
        <p:txBody>
          <a:bodyPr lIns="0" tIns="0" rIns="0" bIns="0" rtlCol="0" anchor="t">
            <a:spAutoFit/>
          </a:bodyPr>
          <a:lstStyle/>
          <a:p>
            <a:pPr algn="l">
              <a:lnSpc>
                <a:spcPts val="3359"/>
              </a:lnSpc>
            </a:pPr>
            <a:r>
              <a:rPr lang="en-US" sz="2399" dirty="0">
                <a:solidFill>
                  <a:srgbClr val="F8FAFC"/>
                </a:solidFill>
                <a:latin typeface="Inter 1"/>
                <a:ea typeface="Inter 1"/>
                <a:cs typeface="Inter 1"/>
                <a:sym typeface="Inter 1"/>
              </a:rPr>
              <a:t>Used Microsoft Excel, PivotTables and Excel formulas to analyze ticket volume, category-wise resolution time, satisfaction, agent performance and monthly/quarterly trends. </a:t>
            </a:r>
          </a:p>
          <a:p>
            <a:pPr algn="l">
              <a:lnSpc>
                <a:spcPts val="3359"/>
              </a:lnSpc>
            </a:pPr>
            <a:endParaRPr lang="en-US" sz="2399" dirty="0">
              <a:solidFill>
                <a:srgbClr val="F8FAFC"/>
              </a:solidFill>
              <a:latin typeface="Inter 1"/>
              <a:ea typeface="Inter 1"/>
              <a:cs typeface="Inter 1"/>
              <a:sym typeface="Inter 1"/>
            </a:endParaRPr>
          </a:p>
        </p:txBody>
      </p:sp>
      <p:sp>
        <p:nvSpPr>
          <p:cNvPr id="37" name="TextBox 37"/>
          <p:cNvSpPr txBox="1"/>
          <p:nvPr/>
        </p:nvSpPr>
        <p:spPr>
          <a:xfrm>
            <a:off x="2588035" y="7959837"/>
            <a:ext cx="3858244" cy="2082276"/>
          </a:xfrm>
          <a:prstGeom prst="rect">
            <a:avLst/>
          </a:prstGeom>
        </p:spPr>
        <p:txBody>
          <a:bodyPr lIns="0" tIns="0" rIns="0" bIns="0" rtlCol="0" anchor="t">
            <a:spAutoFit/>
          </a:bodyPr>
          <a:lstStyle/>
          <a:p>
            <a:pPr algn="l">
              <a:lnSpc>
                <a:spcPts val="3359"/>
              </a:lnSpc>
            </a:pPr>
            <a:r>
              <a:rPr lang="en-US" sz="2399">
                <a:solidFill>
                  <a:srgbClr val="F8FAFC"/>
                </a:solidFill>
                <a:latin typeface="Inter 1"/>
                <a:ea typeface="Inter 1"/>
                <a:cs typeface="Inter 1"/>
                <a:sym typeface="Inter 1"/>
              </a:rPr>
              <a:t>I cleaned the data and corrected inconsistent entries so that it could be used properly for analysis</a:t>
            </a:r>
          </a:p>
          <a:p>
            <a:pPr algn="l">
              <a:lnSpc>
                <a:spcPts val="3359"/>
              </a:lnSpc>
            </a:pPr>
            <a:endParaRPr lang="en-US" sz="2399">
              <a:solidFill>
                <a:srgbClr val="F8FAFC"/>
              </a:solidFill>
              <a:latin typeface="Inter 1"/>
              <a:ea typeface="Inter 1"/>
              <a:cs typeface="Inter 1"/>
              <a:sym typeface="Inter 1"/>
            </a:endParaRPr>
          </a:p>
        </p:txBody>
      </p:sp>
      <p:sp>
        <p:nvSpPr>
          <p:cNvPr id="38" name="TextBox 38"/>
          <p:cNvSpPr txBox="1"/>
          <p:nvPr/>
        </p:nvSpPr>
        <p:spPr>
          <a:xfrm>
            <a:off x="12372136" y="4728636"/>
            <a:ext cx="5915864" cy="3758765"/>
          </a:xfrm>
          <a:prstGeom prst="rect">
            <a:avLst/>
          </a:prstGeom>
        </p:spPr>
        <p:txBody>
          <a:bodyPr lIns="0" tIns="0" rIns="0" bIns="0" rtlCol="0" anchor="t">
            <a:spAutoFit/>
          </a:bodyPr>
          <a:lstStyle/>
          <a:p>
            <a:pPr algn="l">
              <a:lnSpc>
                <a:spcPts val="3359"/>
              </a:lnSpc>
            </a:pPr>
            <a:r>
              <a:rPr lang="en-US" sz="2400" dirty="0">
                <a:solidFill>
                  <a:srgbClr val="F8FAFC"/>
                </a:solidFill>
                <a:latin typeface="Inter 1"/>
                <a:ea typeface="Inter 1"/>
                <a:cs typeface="Inter 1"/>
                <a:sym typeface="Inter 1"/>
              </a:rPr>
              <a:t>Charts, KPI cards and interactive dashboard with slicers.</a:t>
            </a:r>
          </a:p>
          <a:p>
            <a:pPr algn="l">
              <a:lnSpc>
                <a:spcPts val="3359"/>
              </a:lnSpc>
            </a:pPr>
            <a:r>
              <a:rPr lang="en-US" sz="2400" b="1" dirty="0">
                <a:solidFill>
                  <a:srgbClr val="F8FAFC"/>
                </a:solidFill>
                <a:latin typeface="Inter 1 Bold"/>
                <a:ea typeface="Inter 1 Bold"/>
                <a:cs typeface="Inter 1 Bold"/>
                <a:sym typeface="Inter 1 Bold"/>
              </a:rPr>
              <a:t>Tools Used:</a:t>
            </a:r>
          </a:p>
          <a:p>
            <a:pPr algn="l">
              <a:lnSpc>
                <a:spcPts val="3359"/>
              </a:lnSpc>
            </a:pPr>
            <a:r>
              <a:rPr lang="en-US" sz="2400" b="1" dirty="0">
                <a:solidFill>
                  <a:srgbClr val="F8FAFC"/>
                </a:solidFill>
                <a:latin typeface="Inter 1 Bold"/>
                <a:ea typeface="Inter 1 Bold"/>
                <a:cs typeface="Inter 1 Bold"/>
                <a:sym typeface="Inter 1 Bold"/>
              </a:rPr>
              <a:t>Microsoft Excel • PivotTables • </a:t>
            </a:r>
            <a:r>
              <a:rPr lang="en-US" sz="2400" b="1" dirty="0" err="1">
                <a:solidFill>
                  <a:srgbClr val="F8FAFC"/>
                </a:solidFill>
                <a:latin typeface="Inter 1 Bold"/>
                <a:ea typeface="Inter 1 Bold"/>
                <a:cs typeface="Inter 1 Bold"/>
                <a:sym typeface="Inter 1 Bold"/>
              </a:rPr>
              <a:t>PivotCharts</a:t>
            </a:r>
            <a:r>
              <a:rPr lang="en-US" sz="2400" b="1" dirty="0">
                <a:solidFill>
                  <a:srgbClr val="F8FAFC"/>
                </a:solidFill>
                <a:latin typeface="Inter 1 Bold"/>
                <a:ea typeface="Inter 1 Bold"/>
                <a:cs typeface="Inter 1 Bold"/>
                <a:sym typeface="Inter 1 Bold"/>
              </a:rPr>
              <a:t> • XLOOKUP • CORREL • Dashboard</a:t>
            </a:r>
          </a:p>
          <a:p>
            <a:pPr algn="l">
              <a:lnSpc>
                <a:spcPts val="3359"/>
              </a:lnSpc>
            </a:pPr>
            <a:endParaRPr lang="en-US" sz="2400" b="1" dirty="0">
              <a:solidFill>
                <a:srgbClr val="F8FAFC"/>
              </a:solidFill>
              <a:latin typeface="Inter 1 Bold"/>
              <a:ea typeface="Inter 1 Bold"/>
              <a:cs typeface="Inter 1 Bold"/>
              <a:sym typeface="Inter 1 Bold"/>
            </a:endParaRPr>
          </a:p>
          <a:p>
            <a:pPr algn="l">
              <a:lnSpc>
                <a:spcPts val="3359"/>
              </a:lnSpc>
            </a:pPr>
            <a:endParaRPr lang="en-US" sz="2400" b="1" dirty="0">
              <a:solidFill>
                <a:srgbClr val="F8FAFC"/>
              </a:solidFill>
              <a:latin typeface="Inter 1 Bold"/>
              <a:ea typeface="Inter 1 Bold"/>
              <a:cs typeface="Inter 1 Bold"/>
              <a:sym typeface="Inter 1 Bold"/>
            </a:endParaRPr>
          </a:p>
          <a:p>
            <a:pPr algn="l">
              <a:lnSpc>
                <a:spcPts val="3359"/>
              </a:lnSpc>
            </a:pPr>
            <a:endParaRPr lang="en-US" sz="2400" b="1" dirty="0">
              <a:solidFill>
                <a:srgbClr val="F8FAFC"/>
              </a:solidFill>
              <a:latin typeface="Inter 1 Bold"/>
              <a:ea typeface="Inter 1 Bold"/>
              <a:cs typeface="Inter 1 Bold"/>
              <a:sym typeface="Inter 1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3" name="AutoShape 3"/>
          <p:cNvSpPr/>
          <p:nvPr/>
        </p:nvSpPr>
        <p:spPr>
          <a:xfrm flipV="1">
            <a:off x="8035803" y="0"/>
            <a:ext cx="0" cy="10287000"/>
          </a:xfrm>
          <a:prstGeom prst="line">
            <a:avLst/>
          </a:prstGeom>
          <a:ln w="9525" cap="flat">
            <a:solidFill>
              <a:srgbClr val="FFFFFF"/>
            </a:solidFill>
            <a:prstDash val="solid"/>
            <a:headEnd type="none" w="sm" len="sm"/>
            <a:tailEnd type="none" w="sm" len="sm"/>
          </a:ln>
        </p:spPr>
      </p:sp>
      <p:sp>
        <p:nvSpPr>
          <p:cNvPr id="4" name="Freeform 4"/>
          <p:cNvSpPr/>
          <p:nvPr/>
        </p:nvSpPr>
        <p:spPr>
          <a:xfrm>
            <a:off x="10028162" y="836758"/>
            <a:ext cx="6117292" cy="3667783"/>
          </a:xfrm>
          <a:custGeom>
            <a:avLst/>
            <a:gdLst/>
            <a:ahLst/>
            <a:cxnLst/>
            <a:rect l="l" t="t" r="r" b="b"/>
            <a:pathLst>
              <a:path w="6117292" h="3667783">
                <a:moveTo>
                  <a:pt x="0" y="0"/>
                </a:moveTo>
                <a:lnTo>
                  <a:pt x="6117292" y="0"/>
                </a:lnTo>
                <a:lnTo>
                  <a:pt x="6117292" y="3667783"/>
                </a:lnTo>
                <a:lnTo>
                  <a:pt x="0" y="3667783"/>
                </a:lnTo>
                <a:lnTo>
                  <a:pt x="0" y="0"/>
                </a:lnTo>
                <a:close/>
              </a:path>
            </a:pathLst>
          </a:custGeom>
          <a:blipFill>
            <a:blip r:embed="rId2"/>
            <a:stretch>
              <a:fillRect/>
            </a:stretch>
          </a:blipFill>
        </p:spPr>
      </p:sp>
      <p:sp>
        <p:nvSpPr>
          <p:cNvPr id="5" name="TextBox 5"/>
          <p:cNvSpPr txBox="1"/>
          <p:nvPr/>
        </p:nvSpPr>
        <p:spPr>
          <a:xfrm>
            <a:off x="720919" y="2407758"/>
            <a:ext cx="6687186" cy="895394"/>
          </a:xfrm>
          <a:prstGeom prst="rect">
            <a:avLst/>
          </a:prstGeom>
        </p:spPr>
        <p:txBody>
          <a:bodyPr lIns="0" tIns="0" rIns="0" bIns="0" rtlCol="0" anchor="t">
            <a:spAutoFit/>
          </a:bodyPr>
          <a:lstStyle/>
          <a:p>
            <a:pPr marL="0" lvl="0" indent="0" algn="l">
              <a:lnSpc>
                <a:spcPts val="6600"/>
              </a:lnSpc>
              <a:spcBef>
                <a:spcPct val="0"/>
              </a:spcBef>
            </a:pPr>
            <a:r>
              <a:rPr lang="en-US" sz="5500" b="1" u="none" strike="noStrike" dirty="0">
                <a:solidFill>
                  <a:srgbClr val="F8FAFC"/>
                </a:solidFill>
                <a:latin typeface="Poppins Bold"/>
                <a:ea typeface="Poppins Bold"/>
                <a:cs typeface="Poppins Bold"/>
                <a:sym typeface="Poppins Bold"/>
              </a:rPr>
              <a:t>Ticket Categories</a:t>
            </a:r>
          </a:p>
        </p:txBody>
      </p:sp>
      <p:sp>
        <p:nvSpPr>
          <p:cNvPr id="6" name="TextBox 6"/>
          <p:cNvSpPr txBox="1"/>
          <p:nvPr/>
        </p:nvSpPr>
        <p:spPr>
          <a:xfrm>
            <a:off x="720919" y="3439591"/>
            <a:ext cx="6605272" cy="2082276"/>
          </a:xfrm>
          <a:prstGeom prst="rect">
            <a:avLst/>
          </a:prstGeom>
        </p:spPr>
        <p:txBody>
          <a:bodyPr lIns="0" tIns="0" rIns="0" bIns="0" rtlCol="0" anchor="t">
            <a:spAutoFit/>
          </a:bodyPr>
          <a:lstStyle/>
          <a:p>
            <a:pPr algn="ctr">
              <a:lnSpc>
                <a:spcPts val="3359"/>
              </a:lnSpc>
            </a:pPr>
            <a:endParaRPr dirty="0"/>
          </a:p>
          <a:p>
            <a:pPr algn="ctr">
              <a:lnSpc>
                <a:spcPts val="3359"/>
              </a:lnSpc>
              <a:spcBef>
                <a:spcPct val="0"/>
              </a:spcBef>
            </a:pPr>
            <a:r>
              <a:rPr lang="en-US" sz="2400" dirty="0">
                <a:solidFill>
                  <a:srgbClr val="F8FAFC"/>
                </a:solidFill>
                <a:latin typeface="Inter 1"/>
                <a:ea typeface="Inter 1"/>
                <a:cs typeface="Inter 1"/>
                <a:sym typeface="Inter 1"/>
              </a:rPr>
              <a:t>Key Insight:</a:t>
            </a:r>
            <a:r>
              <a:rPr lang="en-US" sz="2400" b="1" dirty="0">
                <a:solidFill>
                  <a:srgbClr val="F8FAFC"/>
                </a:solidFill>
                <a:latin typeface="Inter 1 Bold"/>
                <a:ea typeface="Inter 1 Bold"/>
                <a:cs typeface="Inter 1 Bold"/>
                <a:sym typeface="Inter 1 Bold"/>
              </a:rPr>
              <a:t> </a:t>
            </a:r>
            <a:r>
              <a:rPr lang="en-US" sz="2400" dirty="0">
                <a:solidFill>
                  <a:srgbClr val="F8FAFC"/>
                </a:solidFill>
                <a:latin typeface="Inter 1"/>
                <a:ea typeface="Inter 1"/>
                <a:cs typeface="Inter 1"/>
                <a:sym typeface="Inter 1"/>
              </a:rPr>
              <a:t>System and Login make up about 70% of tickets. Automate Login (0.31 days) and assign specialists to System (6.62 days).</a:t>
            </a:r>
          </a:p>
          <a:p>
            <a:pPr algn="ctr">
              <a:lnSpc>
                <a:spcPts val="3359"/>
              </a:lnSpc>
              <a:spcBef>
                <a:spcPct val="0"/>
              </a:spcBef>
            </a:pPr>
            <a:endParaRPr lang="en-US" sz="2400" dirty="0">
              <a:solidFill>
                <a:srgbClr val="F8FAFC"/>
              </a:solidFill>
              <a:latin typeface="Inter 1"/>
              <a:ea typeface="Inter 1"/>
              <a:cs typeface="Inter 1"/>
              <a:sym typeface="Inter 1"/>
            </a:endParaRPr>
          </a:p>
        </p:txBody>
      </p:sp>
      <p:sp>
        <p:nvSpPr>
          <p:cNvPr id="7" name="TextBox 7"/>
          <p:cNvSpPr txBox="1"/>
          <p:nvPr/>
        </p:nvSpPr>
        <p:spPr>
          <a:xfrm>
            <a:off x="8198362" y="5744360"/>
            <a:ext cx="10089638" cy="3901324"/>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F8FAFC"/>
                </a:solidFill>
                <a:latin typeface="Inter 1" panose="020B0604020202020204" charset="0"/>
                <a:ea typeface="Inter 1" panose="020B0604020202020204" charset="0"/>
                <a:cs typeface="Poppins"/>
                <a:sym typeface="Poppins"/>
              </a:rPr>
              <a:t>System (40%): 39,002 tickets, the largest load.</a:t>
            </a:r>
          </a:p>
          <a:p>
            <a:pPr algn="l">
              <a:lnSpc>
                <a:spcPts val="3359"/>
              </a:lnSpc>
            </a:pPr>
            <a:endParaRPr lang="en-US" sz="2400" dirty="0">
              <a:solidFill>
                <a:srgbClr val="F8FAFC"/>
              </a:solidFill>
              <a:latin typeface="Inter 1" panose="020B0604020202020204" charset="0"/>
              <a:ea typeface="Inter 1" panose="020B0604020202020204" charset="0"/>
              <a:cs typeface="Poppins"/>
              <a:sym typeface="Poppins"/>
            </a:endParaRPr>
          </a:p>
          <a:p>
            <a:pPr marL="518160" lvl="1" indent="-259080" algn="l">
              <a:lnSpc>
                <a:spcPts val="3359"/>
              </a:lnSpc>
              <a:spcBef>
                <a:spcPct val="0"/>
              </a:spcBef>
              <a:buFont typeface="Arial"/>
              <a:buChar char="•"/>
            </a:pPr>
            <a:r>
              <a:rPr lang="en-US" sz="2400" dirty="0">
                <a:solidFill>
                  <a:srgbClr val="F8FAFC"/>
                </a:solidFill>
                <a:latin typeface="Inter 1" panose="020B0604020202020204" charset="0"/>
                <a:ea typeface="Inter 1" panose="020B0604020202020204" charset="0"/>
                <a:cs typeface="Poppins"/>
                <a:sym typeface="Poppins"/>
              </a:rPr>
              <a:t>Login Access (30%): 29,193 tickets, simple lock and password issues.</a:t>
            </a:r>
          </a:p>
          <a:p>
            <a:pPr algn="l">
              <a:lnSpc>
                <a:spcPts val="3359"/>
              </a:lnSpc>
              <a:spcBef>
                <a:spcPct val="0"/>
              </a:spcBef>
            </a:pPr>
            <a:endParaRPr lang="en-US" sz="2400" dirty="0">
              <a:solidFill>
                <a:srgbClr val="F8FAFC"/>
              </a:solidFill>
              <a:latin typeface="Inter 1" panose="020B0604020202020204" charset="0"/>
              <a:ea typeface="Inter 1" panose="020B0604020202020204" charset="0"/>
              <a:cs typeface="Poppins"/>
              <a:sym typeface="Poppins"/>
            </a:endParaRPr>
          </a:p>
          <a:p>
            <a:pPr marL="518160" lvl="1" indent="-259080" algn="l">
              <a:lnSpc>
                <a:spcPts val="3359"/>
              </a:lnSpc>
              <a:spcBef>
                <a:spcPct val="0"/>
              </a:spcBef>
              <a:buFont typeface="Arial"/>
              <a:buChar char="•"/>
            </a:pPr>
            <a:r>
              <a:rPr lang="en-US" sz="2400" dirty="0">
                <a:solidFill>
                  <a:srgbClr val="F8FAFC"/>
                </a:solidFill>
                <a:latin typeface="Inter 1" panose="020B0604020202020204" charset="0"/>
                <a:ea typeface="Inter 1" panose="020B0604020202020204" charset="0"/>
                <a:cs typeface="Poppins"/>
                <a:sym typeface="Poppins"/>
              </a:rPr>
              <a:t>Software (20%): 19,570 tickets, setup and configuration.</a:t>
            </a:r>
          </a:p>
          <a:p>
            <a:pPr algn="l">
              <a:lnSpc>
                <a:spcPts val="3359"/>
              </a:lnSpc>
              <a:spcBef>
                <a:spcPct val="0"/>
              </a:spcBef>
            </a:pPr>
            <a:endParaRPr lang="en-US" sz="2400" dirty="0">
              <a:solidFill>
                <a:srgbClr val="F8FAFC"/>
              </a:solidFill>
              <a:latin typeface="Inter 1" panose="020B0604020202020204" charset="0"/>
              <a:ea typeface="Inter 1" panose="020B0604020202020204" charset="0"/>
              <a:cs typeface="Poppins"/>
              <a:sym typeface="Poppins"/>
            </a:endParaRPr>
          </a:p>
          <a:p>
            <a:pPr marL="518160" lvl="1" indent="-259080" algn="l">
              <a:lnSpc>
                <a:spcPts val="3359"/>
              </a:lnSpc>
              <a:spcBef>
                <a:spcPct val="0"/>
              </a:spcBef>
              <a:buFont typeface="Arial"/>
              <a:buChar char="•"/>
            </a:pPr>
            <a:r>
              <a:rPr lang="en-US" sz="2400" dirty="0">
                <a:solidFill>
                  <a:srgbClr val="F8FAFC"/>
                </a:solidFill>
                <a:latin typeface="Inter 1" panose="020B0604020202020204" charset="0"/>
                <a:ea typeface="Inter 1" panose="020B0604020202020204" charset="0"/>
                <a:cs typeface="Poppins"/>
                <a:sym typeface="Poppins"/>
              </a:rPr>
              <a:t>Hardware (10%): 9,733 tickets, the slowest at 7.63 days.</a:t>
            </a:r>
          </a:p>
          <a:p>
            <a:pPr algn="l">
              <a:lnSpc>
                <a:spcPts val="3359"/>
              </a:lnSpc>
              <a:spcBef>
                <a:spcPct val="0"/>
              </a:spcBef>
            </a:pPr>
            <a:endParaRPr lang="en-US" sz="2400" dirty="0">
              <a:solidFill>
                <a:srgbClr val="F8FAFC"/>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10981078" y="3184086"/>
            <a:ext cx="6436408" cy="3918828"/>
          </a:xfrm>
          <a:custGeom>
            <a:avLst/>
            <a:gdLst/>
            <a:ahLst/>
            <a:cxnLst/>
            <a:rect l="l" t="t" r="r" b="b"/>
            <a:pathLst>
              <a:path w="6436408" h="3918828">
                <a:moveTo>
                  <a:pt x="0" y="0"/>
                </a:moveTo>
                <a:lnTo>
                  <a:pt x="6436409" y="0"/>
                </a:lnTo>
                <a:lnTo>
                  <a:pt x="6436409" y="3918828"/>
                </a:lnTo>
                <a:lnTo>
                  <a:pt x="0" y="3918828"/>
                </a:lnTo>
                <a:lnTo>
                  <a:pt x="0" y="0"/>
                </a:lnTo>
                <a:close/>
              </a:path>
            </a:pathLst>
          </a:custGeom>
          <a:blipFill>
            <a:blip r:embed="rId2"/>
            <a:stretch>
              <a:fillRect b="-4427"/>
            </a:stretch>
          </a:blipFill>
        </p:spPr>
      </p:sp>
      <p:sp>
        <p:nvSpPr>
          <p:cNvPr id="3" name="TextBox 3"/>
          <p:cNvSpPr txBox="1"/>
          <p:nvPr/>
        </p:nvSpPr>
        <p:spPr>
          <a:xfrm>
            <a:off x="1133949" y="1051178"/>
            <a:ext cx="9573083" cy="770282"/>
          </a:xfrm>
          <a:prstGeom prst="rect">
            <a:avLst/>
          </a:prstGeom>
        </p:spPr>
        <p:txBody>
          <a:bodyPr lIns="0" tIns="0" rIns="0" bIns="0" rtlCol="0" anchor="t">
            <a:spAutoFit/>
          </a:bodyPr>
          <a:lstStyle/>
          <a:p>
            <a:pPr marL="0" lvl="0" indent="0" algn="l">
              <a:lnSpc>
                <a:spcPts val="5335"/>
              </a:lnSpc>
              <a:spcBef>
                <a:spcPct val="0"/>
              </a:spcBef>
            </a:pPr>
            <a:r>
              <a:rPr lang="en-US" sz="5500" b="1" u="none">
                <a:solidFill>
                  <a:srgbClr val="FFFFFF"/>
                </a:solidFill>
                <a:latin typeface="Poppins Bold"/>
                <a:ea typeface="Poppins Bold"/>
                <a:cs typeface="Poppins Bold"/>
                <a:sym typeface="Poppins Bold"/>
              </a:rPr>
              <a:t>Ticket Volume Over Time</a:t>
            </a:r>
          </a:p>
        </p:txBody>
      </p:sp>
      <p:sp>
        <p:nvSpPr>
          <p:cNvPr id="4" name="AutoShape 4"/>
          <p:cNvSpPr/>
          <p:nvPr/>
        </p:nvSpPr>
        <p:spPr>
          <a:xfrm flipV="1">
            <a:off x="0" y="7597295"/>
            <a:ext cx="18288000" cy="75501"/>
          </a:xfrm>
          <a:prstGeom prst="line">
            <a:avLst/>
          </a:prstGeom>
          <a:ln w="38100" cap="flat">
            <a:solidFill>
              <a:srgbClr val="FFFFFF"/>
            </a:solidFill>
            <a:prstDash val="solid"/>
            <a:headEnd type="none" w="sm" len="sm"/>
            <a:tailEnd type="none" w="sm" len="sm"/>
          </a:ln>
        </p:spPr>
      </p:sp>
      <p:sp>
        <p:nvSpPr>
          <p:cNvPr id="5" name="TextBox 5"/>
          <p:cNvSpPr txBox="1"/>
          <p:nvPr/>
        </p:nvSpPr>
        <p:spPr>
          <a:xfrm>
            <a:off x="1371600" y="8187134"/>
            <a:ext cx="14683502" cy="422289"/>
          </a:xfrm>
          <a:prstGeom prst="rect">
            <a:avLst/>
          </a:prstGeom>
        </p:spPr>
        <p:txBody>
          <a:bodyPr wrap="square" lIns="0" tIns="0" rIns="0" bIns="0" rtlCol="0" anchor="t">
            <a:spAutoFit/>
          </a:bodyPr>
          <a:lstStyle/>
          <a:p>
            <a:pPr algn="ctr">
              <a:lnSpc>
                <a:spcPts val="3500"/>
              </a:lnSpc>
              <a:spcBef>
                <a:spcPct val="0"/>
              </a:spcBef>
            </a:pPr>
            <a:r>
              <a:rPr lang="en-US" sz="2500" b="1" dirty="0">
                <a:solidFill>
                  <a:srgbClr val="FFFFFF"/>
                </a:solidFill>
                <a:latin typeface="Inter 1 Bold"/>
                <a:ea typeface="Inter 1 Bold"/>
                <a:cs typeface="Inter 1 Bold"/>
                <a:sym typeface="Inter 1 Bold"/>
              </a:rPr>
              <a:t>2016: 13,051 |  2017: 14,915 |  2018: 18,954 |  2019: 21,490 |  2020: 29,088</a:t>
            </a:r>
          </a:p>
        </p:txBody>
      </p:sp>
      <p:sp>
        <p:nvSpPr>
          <p:cNvPr id="6" name="TextBox 6"/>
          <p:cNvSpPr txBox="1"/>
          <p:nvPr/>
        </p:nvSpPr>
        <p:spPr>
          <a:xfrm>
            <a:off x="1556724" y="2197154"/>
            <a:ext cx="8330921" cy="1663154"/>
          </a:xfrm>
          <a:prstGeom prst="rect">
            <a:avLst/>
          </a:prstGeom>
        </p:spPr>
        <p:txBody>
          <a:bodyPr lIns="0" tIns="0" rIns="0" bIns="0" rtlCol="0" anchor="t">
            <a:spAutoFit/>
          </a:bodyPr>
          <a:lstStyle/>
          <a:p>
            <a:pPr algn="ctr">
              <a:lnSpc>
                <a:spcPts val="3359"/>
              </a:lnSpc>
              <a:spcBef>
                <a:spcPct val="0"/>
              </a:spcBef>
            </a:pPr>
            <a:r>
              <a:rPr lang="en-US" sz="2400" dirty="0">
                <a:solidFill>
                  <a:srgbClr val="FFFFFF"/>
                </a:solidFill>
                <a:latin typeface="Inter 1"/>
                <a:ea typeface="Inter 1"/>
                <a:cs typeface="Inter 1"/>
                <a:sym typeface="Inter 1"/>
              </a:rPr>
              <a:t>Key Insight: Tickets grew 123% (13,051 → 29,088) with the same 50 agents. Resolution time stayed flat (4.55 → 4.59 days) and satisfaction rose (3.98 → 4.16).</a:t>
            </a:r>
          </a:p>
          <a:p>
            <a:pPr algn="ctr">
              <a:lnSpc>
                <a:spcPts val="3359"/>
              </a:lnSpc>
              <a:spcBef>
                <a:spcPct val="0"/>
              </a:spcBef>
            </a:pPr>
            <a:endParaRPr lang="en-US" sz="2400" dirty="0">
              <a:solidFill>
                <a:srgbClr val="FFFFFF"/>
              </a:solidFill>
              <a:latin typeface="Inter 1"/>
              <a:ea typeface="Inter 1"/>
              <a:cs typeface="Inter 1"/>
              <a:sym typeface="Inter 1"/>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Freeform 2"/>
          <p:cNvSpPr/>
          <p:nvPr/>
        </p:nvSpPr>
        <p:spPr>
          <a:xfrm>
            <a:off x="9144000" y="4437854"/>
            <a:ext cx="8643309" cy="5228668"/>
          </a:xfrm>
          <a:custGeom>
            <a:avLst/>
            <a:gdLst/>
            <a:ahLst/>
            <a:cxnLst/>
            <a:rect l="l" t="t" r="r" b="b"/>
            <a:pathLst>
              <a:path w="8643309" h="5228668">
                <a:moveTo>
                  <a:pt x="0" y="0"/>
                </a:moveTo>
                <a:lnTo>
                  <a:pt x="8643309" y="0"/>
                </a:lnTo>
                <a:lnTo>
                  <a:pt x="8643309" y="5228668"/>
                </a:lnTo>
                <a:lnTo>
                  <a:pt x="0" y="5228668"/>
                </a:lnTo>
                <a:lnTo>
                  <a:pt x="0" y="0"/>
                </a:lnTo>
                <a:close/>
              </a:path>
            </a:pathLst>
          </a:custGeom>
          <a:blipFill>
            <a:blip r:embed="rId2"/>
            <a:stretch>
              <a:fillRect/>
            </a:stretch>
          </a:blipFill>
        </p:spPr>
      </p:sp>
      <p:grpSp>
        <p:nvGrpSpPr>
          <p:cNvPr id="3" name="Group 3"/>
          <p:cNvGrpSpPr/>
          <p:nvPr/>
        </p:nvGrpSpPr>
        <p:grpSpPr>
          <a:xfrm>
            <a:off x="632027" y="439074"/>
            <a:ext cx="11374494" cy="5306233"/>
            <a:chOff x="0" y="-28575"/>
            <a:chExt cx="15165993" cy="7074977"/>
          </a:xfrm>
        </p:grpSpPr>
        <p:sp>
          <p:nvSpPr>
            <p:cNvPr id="4" name="TextBox 4"/>
            <p:cNvSpPr txBox="1"/>
            <p:nvPr/>
          </p:nvSpPr>
          <p:spPr>
            <a:xfrm>
              <a:off x="0" y="-28575"/>
              <a:ext cx="15165993" cy="1144517"/>
            </a:xfrm>
            <a:prstGeom prst="rect">
              <a:avLst/>
            </a:prstGeom>
          </p:spPr>
          <p:txBody>
            <a:bodyPr lIns="0" tIns="0" rIns="0" bIns="0" rtlCol="0" anchor="t">
              <a:spAutoFit/>
            </a:bodyPr>
            <a:lstStyle/>
            <a:p>
              <a:pPr marL="0" lvl="0" indent="0" algn="l">
                <a:lnSpc>
                  <a:spcPts val="6984"/>
                </a:lnSpc>
              </a:pPr>
              <a:r>
                <a:rPr lang="en-US" sz="5499" b="1">
                  <a:solidFill>
                    <a:srgbClr val="FFFFFF"/>
                  </a:solidFill>
                  <a:latin typeface="Inter 2 Bold"/>
                  <a:ea typeface="Inter 2 Bold"/>
                  <a:cs typeface="Inter 2 Bold"/>
                  <a:sym typeface="Inter 2 Bold"/>
                </a:rPr>
                <a:t>Ticket Breakdown by Issue Type</a:t>
              </a:r>
            </a:p>
          </p:txBody>
        </p:sp>
        <p:sp>
          <p:nvSpPr>
            <p:cNvPr id="5" name="TextBox 5"/>
            <p:cNvSpPr txBox="1"/>
            <p:nvPr/>
          </p:nvSpPr>
          <p:spPr>
            <a:xfrm>
              <a:off x="590557" y="1564080"/>
              <a:ext cx="10282594" cy="1084004"/>
            </a:xfrm>
            <a:prstGeom prst="rect">
              <a:avLst/>
            </a:prstGeom>
          </p:spPr>
          <p:txBody>
            <a:bodyPr lIns="0" tIns="0" rIns="0" bIns="0" rtlCol="0" anchor="t">
              <a:spAutoFit/>
            </a:bodyPr>
            <a:lstStyle/>
            <a:p>
              <a:pPr marL="0" lvl="0" indent="0" algn="l">
                <a:lnSpc>
                  <a:spcPts val="3360"/>
                </a:lnSpc>
              </a:pPr>
              <a:r>
                <a:rPr lang="en-US" sz="2400" dirty="0">
                  <a:solidFill>
                    <a:srgbClr val="FFFFFF"/>
                  </a:solidFill>
                  <a:latin typeface="Inter 2"/>
                  <a:ea typeface="Inter 2"/>
                  <a:cs typeface="Inter 2"/>
                  <a:sym typeface="Inter 2"/>
                </a:rPr>
                <a:t>Key Insight: Most of our work (75%) is just simple requests, so we can easily fix them with automation.</a:t>
              </a:r>
            </a:p>
          </p:txBody>
        </p:sp>
        <p:sp>
          <p:nvSpPr>
            <p:cNvPr id="6" name="TextBox 6"/>
            <p:cNvSpPr txBox="1"/>
            <p:nvPr/>
          </p:nvSpPr>
          <p:spPr>
            <a:xfrm>
              <a:off x="590557" y="4186901"/>
              <a:ext cx="10282594" cy="2859501"/>
            </a:xfrm>
            <a:prstGeom prst="rect">
              <a:avLst/>
            </a:prstGeom>
          </p:spPr>
          <p:txBody>
            <a:bodyPr lIns="0" tIns="0" rIns="0" bIns="0" rtlCol="0" anchor="t">
              <a:spAutoFit/>
            </a:bodyPr>
            <a:lstStyle/>
            <a:p>
              <a:pPr marL="0" lvl="0" indent="0" algn="l">
                <a:lnSpc>
                  <a:spcPts val="3358"/>
                </a:lnSpc>
              </a:pPr>
              <a:r>
                <a:rPr lang="en-US" sz="2398" dirty="0">
                  <a:solidFill>
                    <a:srgbClr val="FFFFFF"/>
                  </a:solidFill>
                  <a:latin typeface="Inter 1" panose="020B0604020202020204" charset="0"/>
                  <a:ea typeface="Inter 1" panose="020B0604020202020204" charset="0"/>
                  <a:cs typeface="Inter 2"/>
                  <a:sym typeface="Inter 2"/>
                </a:rPr>
                <a:t>IT Requests (75%): We have 73,220 rows for simple daily help.</a:t>
              </a:r>
            </a:p>
            <a:p>
              <a:pPr marL="0" lvl="0" indent="0" algn="l">
                <a:lnSpc>
                  <a:spcPts val="3358"/>
                </a:lnSpc>
              </a:pPr>
              <a:endParaRPr lang="en-US" sz="2398" dirty="0">
                <a:solidFill>
                  <a:srgbClr val="FFFFFF"/>
                </a:solidFill>
                <a:latin typeface="Inter 1" panose="020B0604020202020204" charset="0"/>
                <a:ea typeface="Inter 1" panose="020B0604020202020204" charset="0"/>
                <a:cs typeface="Inter 2"/>
                <a:sym typeface="Inter 2"/>
              </a:endParaRPr>
            </a:p>
            <a:p>
              <a:pPr marL="0" lvl="0" indent="0" algn="l">
                <a:lnSpc>
                  <a:spcPts val="3358"/>
                </a:lnSpc>
              </a:pPr>
              <a:r>
                <a:rPr lang="en-US" sz="2398" dirty="0">
                  <a:solidFill>
                    <a:srgbClr val="FFFFFF"/>
                  </a:solidFill>
                  <a:latin typeface="Inter 1" panose="020B0604020202020204" charset="0"/>
                  <a:ea typeface="Inter 1" panose="020B0604020202020204" charset="0"/>
                  <a:cs typeface="Inter 2"/>
                  <a:sym typeface="Inter 2"/>
                </a:rPr>
                <a:t>IT Errors (25%): We have 24,278 rows for technical system bugs.</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3" name="Group 3"/>
          <p:cNvGrpSpPr/>
          <p:nvPr/>
        </p:nvGrpSpPr>
        <p:grpSpPr>
          <a:xfrm>
            <a:off x="269628" y="345836"/>
            <a:ext cx="13162841" cy="9595328"/>
            <a:chOff x="-135573" y="-436990"/>
            <a:chExt cx="17550455" cy="12793774"/>
          </a:xfrm>
        </p:grpSpPr>
        <p:sp>
          <p:nvSpPr>
            <p:cNvPr id="4" name="TextBox 4"/>
            <p:cNvSpPr txBox="1"/>
            <p:nvPr/>
          </p:nvSpPr>
          <p:spPr>
            <a:xfrm>
              <a:off x="114523" y="-436990"/>
              <a:ext cx="17300359" cy="1174810"/>
            </a:xfrm>
            <a:prstGeom prst="rect">
              <a:avLst/>
            </a:prstGeom>
          </p:spPr>
          <p:txBody>
            <a:bodyPr lIns="0" tIns="0" rIns="0" bIns="0" rtlCol="0" anchor="t">
              <a:spAutoFit/>
            </a:bodyPr>
            <a:lstStyle/>
            <a:p>
              <a:pPr marL="0" lvl="0" indent="0" algn="l">
                <a:lnSpc>
                  <a:spcPts val="6600"/>
                </a:lnSpc>
              </a:pPr>
              <a:r>
                <a:rPr lang="en-US" sz="5500" b="1" dirty="0">
                  <a:solidFill>
                    <a:srgbClr val="FFFFFF"/>
                  </a:solidFill>
                  <a:latin typeface="Poppins Bold"/>
                  <a:ea typeface="Poppins Bold"/>
                  <a:cs typeface="Poppins Bold"/>
                  <a:sym typeface="Poppins Bold"/>
                </a:rPr>
                <a:t>Agent-wise Performance Analysis</a:t>
              </a:r>
            </a:p>
          </p:txBody>
        </p:sp>
        <p:sp>
          <p:nvSpPr>
            <p:cNvPr id="5" name="TextBox 5"/>
            <p:cNvSpPr txBox="1"/>
            <p:nvPr/>
          </p:nvSpPr>
          <p:spPr>
            <a:xfrm>
              <a:off x="114522" y="1216729"/>
              <a:ext cx="17300359" cy="965906"/>
            </a:xfrm>
            <a:prstGeom prst="rect">
              <a:avLst/>
            </a:prstGeom>
          </p:spPr>
          <p:txBody>
            <a:bodyPr lIns="0" tIns="0" rIns="0" bIns="0" rtlCol="0" anchor="t">
              <a:spAutoFit/>
            </a:bodyPr>
            <a:lstStyle/>
            <a:p>
              <a:pPr lvl="0">
                <a:lnSpc>
                  <a:spcPts val="2879"/>
                </a:lnSpc>
              </a:pPr>
              <a:r>
                <a:rPr lang="en-US" sz="2400" dirty="0">
                  <a:solidFill>
                    <a:srgbClr val="FFFFFF"/>
                  </a:solidFill>
                  <a:latin typeface="Inter 1"/>
                  <a:ea typeface="Inter 1"/>
                  <a:cs typeface="Inter 1"/>
                  <a:sym typeface="Inter 1"/>
                </a:rPr>
                <a:t>Key Insight: Software upgrade is the absolute first step. Team performance is stable, but the ticket assignment pipeline is broken.</a:t>
              </a:r>
            </a:p>
          </p:txBody>
        </p:sp>
        <p:sp>
          <p:nvSpPr>
            <p:cNvPr id="6" name="TextBox 6"/>
            <p:cNvSpPr txBox="1"/>
            <p:nvPr/>
          </p:nvSpPr>
          <p:spPr>
            <a:xfrm>
              <a:off x="-135573" y="3102283"/>
              <a:ext cx="14835004" cy="9254501"/>
            </a:xfrm>
            <a:prstGeom prst="rect">
              <a:avLst/>
            </a:prstGeom>
          </p:spPr>
          <p:txBody>
            <a:bodyPr wrap="square" lIns="0" tIns="0" rIns="0" bIns="0" rtlCol="0" anchor="t">
              <a:spAutoFit/>
            </a:bodyPr>
            <a:lstStyle/>
            <a:p>
              <a:pPr marL="601980" lvl="1" indent="-342900">
                <a:lnSpc>
                  <a:spcPts val="3359"/>
                </a:lnSpc>
                <a:buFont typeface="Arial" panose="020B0604020202020204" pitchFamily="34" charset="0"/>
                <a:buChar char="•"/>
              </a:pPr>
              <a:r>
                <a:rPr lang="en-US" sz="2400" dirty="0">
                  <a:solidFill>
                    <a:srgbClr val="FFFFFF"/>
                  </a:solidFill>
                  <a:latin typeface="Inter 1"/>
                  <a:ea typeface="Inter 1"/>
                  <a:cs typeface="Inter 1"/>
                  <a:sym typeface="Inter 1"/>
                </a:rPr>
                <a:t>Statistical Link: Resolution time and satisfaction have a moderate negative correlation (r = -0.40, r² = 0.16): slower agents tend to have lower satisfaction. Speed explains only about 16% of satisfaction, and correlation does not prove causation, so we pair faster resolution with training.</a:t>
              </a:r>
            </a:p>
            <a:p>
              <a:pPr marL="259080" lvl="1">
                <a:lnSpc>
                  <a:spcPts val="3359"/>
                </a:lnSpc>
              </a:pPr>
              <a:endParaRPr lang="en-US" sz="2400" dirty="0">
                <a:solidFill>
                  <a:srgbClr val="FFFFFF"/>
                </a:solidFill>
                <a:latin typeface="Inter 1"/>
                <a:ea typeface="Inter 1"/>
                <a:cs typeface="Inter 1"/>
                <a:sym typeface="Inter 1"/>
              </a:endParaRPr>
            </a:p>
            <a:p>
              <a:pPr marL="601980" lvl="1" indent="-342900" algn="l">
                <a:lnSpc>
                  <a:spcPts val="3359"/>
                </a:lnSpc>
                <a:buFont typeface="Arial" panose="020B0604020202020204" pitchFamily="34" charset="0"/>
                <a:buChar char="•"/>
              </a:pPr>
              <a:r>
                <a:rPr lang="en-US" sz="2400" dirty="0">
                  <a:solidFill>
                    <a:srgbClr val="FFFFFF"/>
                  </a:solidFill>
                  <a:latin typeface="Inter 1"/>
                  <a:ea typeface="Inter 1"/>
                  <a:cs typeface="Inter 1"/>
                  <a:sym typeface="Inter 1"/>
                </a:rPr>
                <a:t>The 30% Process Gap: The main issue isn't agent speed—29,410 tickets (30.2%) are Unassigned, leaving 409 Urgent and 1,434 Major tickets stuck in queue.</a:t>
              </a:r>
            </a:p>
            <a:p>
              <a:pPr marL="259080" lvl="1" algn="l">
                <a:lnSpc>
                  <a:spcPts val="3359"/>
                </a:lnSpc>
              </a:pPr>
              <a:endParaRPr lang="en-US" sz="2400" dirty="0">
                <a:solidFill>
                  <a:srgbClr val="FFFFFF"/>
                </a:solidFill>
                <a:latin typeface="Inter 1"/>
                <a:ea typeface="Inter 1"/>
                <a:cs typeface="Inter 1"/>
                <a:sym typeface="Inter 1"/>
              </a:endParaRPr>
            </a:p>
            <a:p>
              <a:pPr marL="601980" lvl="1" indent="-342900" algn="l">
                <a:lnSpc>
                  <a:spcPts val="3359"/>
                </a:lnSpc>
                <a:buFont typeface="Arial" panose="020B0604020202020204" pitchFamily="34" charset="0"/>
                <a:buChar char="•"/>
              </a:pPr>
              <a:r>
                <a:rPr lang="en-US" sz="2400" dirty="0">
                  <a:solidFill>
                    <a:srgbClr val="FFFFFF"/>
                  </a:solidFill>
                  <a:latin typeface="Inter 1"/>
                  <a:ea typeface="Inter 1"/>
                  <a:cs typeface="Inter 1"/>
                  <a:sym typeface="Inter 1"/>
                </a:rPr>
                <a:t>Targeted Training Only: Workload is evenly balanced (~1,950 tickets/agent). Avoid mass training; target only the 6 lowest-performing agents (led by Agent 19 with 3.0 satisfaction).</a:t>
              </a:r>
            </a:p>
            <a:p>
              <a:pPr marL="259080" lvl="1" algn="l">
                <a:lnSpc>
                  <a:spcPts val="3359"/>
                </a:lnSpc>
              </a:pPr>
              <a:endParaRPr lang="en-US" sz="2400" dirty="0">
                <a:solidFill>
                  <a:srgbClr val="FFFFFF"/>
                </a:solidFill>
                <a:latin typeface="Inter 1"/>
                <a:ea typeface="Inter 1"/>
                <a:cs typeface="Inter 1"/>
                <a:sym typeface="Inter 1"/>
              </a:endParaRPr>
            </a:p>
            <a:p>
              <a:pPr marL="601980" lvl="1" indent="-342900" algn="l">
                <a:lnSpc>
                  <a:spcPts val="3359"/>
                </a:lnSpc>
                <a:buFont typeface="Arial" panose="020B0604020202020204" pitchFamily="34" charset="0"/>
                <a:buChar char="•"/>
              </a:pPr>
              <a:r>
                <a:rPr lang="en-US" sz="2400" dirty="0">
                  <a:solidFill>
                    <a:srgbClr val="FFFFFF"/>
                  </a:solidFill>
                  <a:latin typeface="Inter 1"/>
                  <a:ea typeface="Inter 1"/>
                  <a:cs typeface="Inter 1"/>
                  <a:sym typeface="Inter 1"/>
                </a:rPr>
                <a:t>Hiring Threshold: Postpone hiring until workload crosses 2,250 tickets/agent or resolution stays above 5 days after software automation.</a:t>
              </a:r>
            </a:p>
          </p:txBody>
        </p:sp>
        <p:sp>
          <p:nvSpPr>
            <p:cNvPr id="7" name="AutoShape 7"/>
            <p:cNvSpPr/>
            <p:nvPr/>
          </p:nvSpPr>
          <p:spPr>
            <a:xfrm>
              <a:off x="-90081" y="2505496"/>
              <a:ext cx="17300359" cy="0"/>
            </a:xfrm>
            <a:prstGeom prst="line">
              <a:avLst/>
            </a:prstGeom>
            <a:ln w="12700" cap="rnd">
              <a:solidFill>
                <a:schemeClr val="bg2"/>
              </a:solidFill>
              <a:prstDash val="solid"/>
              <a:headEnd type="none" w="sm" len="sm"/>
              <a:tailEnd type="none" w="sm" len="sm"/>
            </a:ln>
          </p:spPr>
        </p:sp>
      </p:grpSp>
      <p:pic>
        <p:nvPicPr>
          <p:cNvPr id="9" name="Picture 8">
            <a:extLst>
              <a:ext uri="{FF2B5EF4-FFF2-40B4-BE49-F238E27FC236}">
                <a16:creationId xmlns:a16="http://schemas.microsoft.com/office/drawing/2014/main" id="{BBA9CBEC-10B1-F65F-6A6D-C1ECF7771810}"/>
              </a:ext>
            </a:extLst>
          </p:cNvPr>
          <p:cNvPicPr>
            <a:picLocks noChangeAspect="1"/>
          </p:cNvPicPr>
          <p:nvPr/>
        </p:nvPicPr>
        <p:blipFill>
          <a:blip r:embed="rId2"/>
          <a:stretch>
            <a:fillRect/>
          </a:stretch>
        </p:blipFill>
        <p:spPr>
          <a:xfrm>
            <a:off x="11395881" y="3878458"/>
            <a:ext cx="6630453" cy="407567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a:off x="391693" y="680927"/>
            <a:ext cx="10063349" cy="9085364"/>
            <a:chOff x="0" y="-57150"/>
            <a:chExt cx="13417798" cy="12113818"/>
          </a:xfrm>
        </p:grpSpPr>
        <p:sp>
          <p:nvSpPr>
            <p:cNvPr id="3" name="TextBox 3"/>
            <p:cNvSpPr txBox="1"/>
            <p:nvPr/>
          </p:nvSpPr>
          <p:spPr>
            <a:xfrm>
              <a:off x="0" y="-57150"/>
              <a:ext cx="13417798" cy="1174809"/>
            </a:xfrm>
            <a:prstGeom prst="rect">
              <a:avLst/>
            </a:prstGeom>
          </p:spPr>
          <p:txBody>
            <a:bodyPr lIns="0" tIns="0" rIns="0" bIns="0" rtlCol="0" anchor="t">
              <a:spAutoFit/>
            </a:bodyPr>
            <a:lstStyle/>
            <a:p>
              <a:pPr marL="0" lvl="0" indent="0" algn="l">
                <a:lnSpc>
                  <a:spcPts val="6600"/>
                </a:lnSpc>
              </a:pPr>
              <a:r>
                <a:rPr lang="en-US" sz="5500" b="1" dirty="0">
                  <a:solidFill>
                    <a:srgbClr val="FFFFFF"/>
                  </a:solidFill>
                  <a:latin typeface="Poppins Bold"/>
                  <a:ea typeface="Poppins Bold"/>
                  <a:cs typeface="Poppins Bold"/>
                  <a:sym typeface="Poppins Bold"/>
                </a:rPr>
                <a:t>Finding Agents for Support</a:t>
              </a:r>
            </a:p>
          </p:txBody>
        </p:sp>
        <p:sp>
          <p:nvSpPr>
            <p:cNvPr id="4" name="TextBox 4"/>
            <p:cNvSpPr txBox="1"/>
            <p:nvPr/>
          </p:nvSpPr>
          <p:spPr>
            <a:xfrm>
              <a:off x="0" y="1790759"/>
              <a:ext cx="13417798" cy="965905"/>
            </a:xfrm>
            <a:prstGeom prst="rect">
              <a:avLst/>
            </a:prstGeom>
          </p:spPr>
          <p:txBody>
            <a:bodyPr lIns="0" tIns="0" rIns="0" bIns="0" rtlCol="0" anchor="t">
              <a:spAutoFit/>
            </a:bodyPr>
            <a:lstStyle/>
            <a:p>
              <a:pPr lvl="0">
                <a:lnSpc>
                  <a:spcPts val="2880"/>
                </a:lnSpc>
              </a:pPr>
              <a:r>
                <a:rPr lang="en-US" sz="2400" dirty="0">
                  <a:solidFill>
                    <a:srgbClr val="FFFFFF"/>
                  </a:solidFill>
                  <a:latin typeface="Inter 1"/>
                  <a:ea typeface="Inter 1"/>
                  <a:cs typeface="Inter 1"/>
                  <a:sym typeface="Inter 1"/>
                </a:rPr>
                <a:t>Key Insight: Four agents (Lorena, </a:t>
              </a:r>
              <a:r>
                <a:rPr lang="en-US" sz="2400" dirty="0" err="1">
                  <a:solidFill>
                    <a:srgbClr val="FFFFFF"/>
                  </a:solidFill>
                  <a:latin typeface="Inter 1"/>
                  <a:ea typeface="Inter 1"/>
                  <a:cs typeface="Inter 1"/>
                  <a:sym typeface="Inter 1"/>
                </a:rPr>
                <a:t>Nurio</a:t>
              </a:r>
              <a:r>
                <a:rPr lang="en-US" sz="2400" dirty="0">
                  <a:solidFill>
                    <a:srgbClr val="FFFFFF"/>
                  </a:solidFill>
                  <a:latin typeface="Inter 1"/>
                  <a:ea typeface="Inter 1"/>
                  <a:cs typeface="Inter 1"/>
                  <a:sym typeface="Inter 1"/>
                </a:rPr>
                <a:t> Zepeda, Elena Velez and A. Trejo) are on both the lowest-satisfaction and slowest-resolution lists.</a:t>
              </a:r>
            </a:p>
          </p:txBody>
        </p:sp>
        <p:sp>
          <p:nvSpPr>
            <p:cNvPr id="5" name="TextBox 5"/>
            <p:cNvSpPr txBox="1"/>
            <p:nvPr/>
          </p:nvSpPr>
          <p:spPr>
            <a:xfrm>
              <a:off x="0" y="4546236"/>
              <a:ext cx="7832201" cy="7510432"/>
            </a:xfrm>
            <a:prstGeom prst="rect">
              <a:avLst/>
            </a:prstGeom>
          </p:spPr>
          <p:txBody>
            <a:bodyPr lIns="0" tIns="0" rIns="0" bIns="0" rtlCol="0" anchor="t">
              <a:spAutoFit/>
            </a:bodyPr>
            <a:lstStyle/>
            <a:p>
              <a:pPr marL="601980" lvl="1" indent="-342900">
                <a:lnSpc>
                  <a:spcPts val="3359"/>
                </a:lnSpc>
                <a:buFont typeface="Arial" panose="020B0604020202020204" pitchFamily="34" charset="0"/>
                <a:buChar char="•"/>
              </a:pPr>
              <a:r>
                <a:rPr lang="en-US" sz="2400" dirty="0">
                  <a:solidFill>
                    <a:srgbClr val="FFFFFF"/>
                  </a:solidFill>
                  <a:latin typeface="Inter 1"/>
                  <a:ea typeface="Inter 1"/>
                  <a:cs typeface="Inter 1"/>
                  <a:sym typeface="Inter 1"/>
                </a:rPr>
                <a:t>The team average is 4.55 days (about 4.6) to solve a ticket.</a:t>
              </a:r>
            </a:p>
            <a:p>
              <a:pPr marL="259080" lvl="1">
                <a:lnSpc>
                  <a:spcPts val="3359"/>
                </a:lnSpc>
              </a:pPr>
              <a:endParaRPr lang="en-US" sz="2400" dirty="0">
                <a:solidFill>
                  <a:srgbClr val="FFFFFF"/>
                </a:solidFill>
                <a:latin typeface="Inter 1"/>
                <a:ea typeface="Inter 1"/>
                <a:cs typeface="Inter 1"/>
                <a:sym typeface="Inter 1"/>
              </a:endParaRPr>
            </a:p>
            <a:p>
              <a:pPr marL="601980" lvl="1" indent="-342900">
                <a:lnSpc>
                  <a:spcPts val="3359"/>
                </a:lnSpc>
                <a:buFont typeface="Arial" panose="020B0604020202020204" pitchFamily="34" charset="0"/>
                <a:buChar char="•"/>
              </a:pPr>
              <a:r>
                <a:rPr lang="en-US" sz="2400" dirty="0">
                  <a:solidFill>
                    <a:srgbClr val="FFFFFF"/>
                  </a:solidFill>
                  <a:latin typeface="Inter 1"/>
                  <a:ea typeface="Inter 1"/>
                  <a:cs typeface="Inter 1"/>
                  <a:sym typeface="Inter 1"/>
                </a:rPr>
                <a:t>This chart shows each agent's tickets, resolution time (red line) and satisfaction (yellow line). Peaks in the red line are the slowest agents, and dips in the yellow line are the unhappy customers.	</a:t>
              </a:r>
            </a:p>
            <a:p>
              <a:pPr marL="259080" lvl="1">
                <a:lnSpc>
                  <a:spcPts val="3359"/>
                </a:lnSpc>
              </a:pPr>
              <a:endParaRPr lang="en-US" sz="2400" dirty="0">
                <a:solidFill>
                  <a:srgbClr val="FFFFFF"/>
                </a:solidFill>
                <a:latin typeface="Inter 1"/>
                <a:ea typeface="Inter 1"/>
                <a:cs typeface="Inter 1"/>
                <a:sym typeface="Inter 1"/>
              </a:endParaRPr>
            </a:p>
            <a:p>
              <a:pPr marL="601980" lvl="1" indent="-342900">
                <a:lnSpc>
                  <a:spcPts val="3359"/>
                </a:lnSpc>
                <a:buFont typeface="Arial" panose="020B0604020202020204" pitchFamily="34" charset="0"/>
                <a:buChar char="•"/>
              </a:pPr>
              <a:r>
                <a:rPr lang="en-US" sz="2400" dirty="0">
                  <a:solidFill>
                    <a:srgbClr val="FFFFFF"/>
                  </a:solidFill>
                  <a:latin typeface="Inter 1"/>
                  <a:ea typeface="Inter 1"/>
                  <a:cs typeface="Inter 1"/>
                  <a:sym typeface="Inter 1"/>
                </a:rPr>
                <a:t>The four agents above take 5.3 to 5.5 days per ticket, with satisfaction between 3.59 and 3.63.</a:t>
              </a:r>
            </a:p>
          </p:txBody>
        </p:sp>
        <p:sp>
          <p:nvSpPr>
            <p:cNvPr id="6" name="AutoShape 6"/>
            <p:cNvSpPr/>
            <p:nvPr/>
          </p:nvSpPr>
          <p:spPr>
            <a:xfrm>
              <a:off x="0" y="3914411"/>
              <a:ext cx="13417798" cy="0"/>
            </a:xfrm>
            <a:prstGeom prst="line">
              <a:avLst/>
            </a:prstGeom>
            <a:ln w="12700" cap="rnd">
              <a:solidFill>
                <a:schemeClr val="bg2"/>
              </a:solidFill>
              <a:prstDash val="solid"/>
              <a:headEnd type="none" w="sm" len="sm"/>
              <a:tailEnd type="none" w="sm" len="sm"/>
            </a:ln>
          </p:spPr>
        </p:sp>
      </p:grpSp>
      <p:sp>
        <p:nvSpPr>
          <p:cNvPr id="7" name="Freeform 7"/>
          <p:cNvSpPr/>
          <p:nvPr/>
        </p:nvSpPr>
        <p:spPr>
          <a:xfrm>
            <a:off x="6400800" y="4106957"/>
            <a:ext cx="11620774" cy="5499116"/>
          </a:xfrm>
          <a:custGeom>
            <a:avLst/>
            <a:gdLst/>
            <a:ahLst/>
            <a:cxnLst/>
            <a:rect l="l" t="t" r="r" b="b"/>
            <a:pathLst>
              <a:path w="11620774" h="5499116">
                <a:moveTo>
                  <a:pt x="0" y="0"/>
                </a:moveTo>
                <a:lnTo>
                  <a:pt x="11620775" y="0"/>
                </a:lnTo>
                <a:lnTo>
                  <a:pt x="11620775" y="5499116"/>
                </a:lnTo>
                <a:lnTo>
                  <a:pt x="0" y="5499116"/>
                </a:lnTo>
                <a:lnTo>
                  <a:pt x="0" y="0"/>
                </a:lnTo>
                <a:close/>
              </a:path>
            </a:pathLst>
          </a:custGeom>
          <a:blipFill>
            <a:blip r:embed="rId2"/>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3" name="Group 3"/>
          <p:cNvGrpSpPr/>
          <p:nvPr/>
        </p:nvGrpSpPr>
        <p:grpSpPr>
          <a:xfrm>
            <a:off x="8245123" y="2476500"/>
            <a:ext cx="10042877" cy="3067120"/>
            <a:chOff x="0" y="725667"/>
            <a:chExt cx="13390503" cy="4089494"/>
          </a:xfrm>
        </p:grpSpPr>
        <p:sp>
          <p:nvSpPr>
            <p:cNvPr id="4" name="TextBox 4"/>
            <p:cNvSpPr txBox="1"/>
            <p:nvPr/>
          </p:nvSpPr>
          <p:spPr>
            <a:xfrm>
              <a:off x="146788" y="725667"/>
              <a:ext cx="13243715" cy="1174809"/>
            </a:xfrm>
            <a:prstGeom prst="rect">
              <a:avLst/>
            </a:prstGeom>
          </p:spPr>
          <p:txBody>
            <a:bodyPr lIns="0" tIns="0" rIns="0" bIns="0" rtlCol="0" anchor="t">
              <a:spAutoFit/>
            </a:bodyPr>
            <a:lstStyle/>
            <a:p>
              <a:pPr marL="0" lvl="0" indent="0" algn="l">
                <a:lnSpc>
                  <a:spcPts val="6600"/>
                </a:lnSpc>
              </a:pPr>
              <a:r>
                <a:rPr lang="en-US" sz="5500" b="1" dirty="0">
                  <a:solidFill>
                    <a:srgbClr val="FFFFFF"/>
                  </a:solidFill>
                  <a:latin typeface="Poppins Bold"/>
                  <a:ea typeface="Poppins Bold"/>
                  <a:cs typeface="Poppins Bold"/>
                  <a:sym typeface="Poppins Bold"/>
                </a:rPr>
                <a:t>Age Group-wise Analysis</a:t>
              </a:r>
            </a:p>
          </p:txBody>
        </p:sp>
        <p:sp>
          <p:nvSpPr>
            <p:cNvPr id="5" name="TextBox 5"/>
            <p:cNvSpPr txBox="1"/>
            <p:nvPr/>
          </p:nvSpPr>
          <p:spPr>
            <a:xfrm>
              <a:off x="514599" y="2335237"/>
              <a:ext cx="11591171" cy="984885"/>
            </a:xfrm>
            <a:prstGeom prst="rect">
              <a:avLst/>
            </a:prstGeom>
          </p:spPr>
          <p:txBody>
            <a:bodyPr lIns="0" tIns="0" rIns="0" bIns="0" rtlCol="0" anchor="t">
              <a:spAutoFit/>
            </a:bodyPr>
            <a:lstStyle/>
            <a:p>
              <a:pPr lvl="0"/>
              <a:r>
                <a:rPr lang="en-US" sz="2400" dirty="0">
                  <a:solidFill>
                    <a:srgbClr val="FFFFFF"/>
                  </a:solidFill>
                  <a:latin typeface="Inter 2"/>
                  <a:ea typeface="Inter 2"/>
                  <a:cs typeface="Inter 2"/>
                  <a:sym typeface="Inter 2"/>
                </a:rPr>
                <a:t>Key insight: </a:t>
              </a:r>
              <a:r>
                <a:rPr lang="en-IN" sz="2400" dirty="0">
                  <a:solidFill>
                    <a:schemeClr val="bg1"/>
                  </a:solidFill>
                </a:rPr>
                <a:t>The groups handling the most tickets (30-40 and 41-50) are slower than Above 50, which handles far fewer.</a:t>
              </a:r>
              <a:endParaRPr lang="en-US" sz="2400" dirty="0">
                <a:solidFill>
                  <a:schemeClr val="bg1"/>
                </a:solidFill>
                <a:latin typeface="Inter 2"/>
                <a:ea typeface="Inter 2"/>
                <a:cs typeface="Inter 2"/>
                <a:sym typeface="Inter 2"/>
              </a:endParaRPr>
            </a:p>
          </p:txBody>
        </p:sp>
        <p:sp>
          <p:nvSpPr>
            <p:cNvPr id="6" name="TextBox 6"/>
            <p:cNvSpPr txBox="1"/>
            <p:nvPr/>
          </p:nvSpPr>
          <p:spPr>
            <a:xfrm>
              <a:off x="47664" y="4322718"/>
              <a:ext cx="11591171" cy="492443"/>
            </a:xfrm>
            <a:prstGeom prst="rect">
              <a:avLst/>
            </a:prstGeom>
            <a:ln>
              <a:noFill/>
            </a:ln>
          </p:spPr>
          <p:txBody>
            <a:bodyPr lIns="0" tIns="0" rIns="0" bIns="0" rtlCol="0" anchor="t">
              <a:spAutoFit/>
            </a:bodyPr>
            <a:lstStyle/>
            <a:p>
              <a:pPr marL="342900" lvl="0" indent="-342900">
                <a:buFont typeface="Arial" panose="020B0604020202020204" pitchFamily="34" charset="0"/>
                <a:buChar char="•"/>
              </a:pPr>
              <a:endParaRPr lang="en-US" sz="2400" u="sng" dirty="0">
                <a:solidFill>
                  <a:schemeClr val="bg2"/>
                </a:solidFill>
                <a:latin typeface="Inter 2" panose="020B0604020202020204" charset="0"/>
                <a:ea typeface="Inter 2" panose="020B0604020202020204" charset="0"/>
                <a:cs typeface="Inter 2"/>
                <a:sym typeface="Inter 2"/>
                <a:hlinkClick r:id="rId2" tooltip="https://docs.google.com/spreadsheets/d/1DUF2isFWsqVSYhbaACYtbgcLi_YjDqpE3GLQIVgkKQg/edit#gid=69851113">
                  <a:extLst>
                    <a:ext uri="{A12FA001-AC4F-418D-AE19-62706E023703}">
                      <ahyp:hlinkClr xmlns:ahyp="http://schemas.microsoft.com/office/drawing/2018/hyperlinkcolor" val="tx"/>
                    </a:ext>
                  </a:extLst>
                </a:hlinkClick>
              </a:endParaRPr>
            </a:p>
          </p:txBody>
        </p:sp>
        <p:sp>
          <p:nvSpPr>
            <p:cNvPr id="7" name="AutoShape 7"/>
            <p:cNvSpPr/>
            <p:nvPr/>
          </p:nvSpPr>
          <p:spPr>
            <a:xfrm>
              <a:off x="0" y="3986805"/>
              <a:ext cx="11591171" cy="0"/>
            </a:xfrm>
            <a:prstGeom prst="line">
              <a:avLst/>
            </a:prstGeom>
            <a:ln w="12700" cap="rnd">
              <a:solidFill>
                <a:schemeClr val="bg2"/>
              </a:solidFill>
              <a:prstDash val="solid"/>
              <a:headEnd type="none" w="sm" len="sm"/>
              <a:tailEnd type="none" w="sm" len="sm"/>
            </a:ln>
          </p:spPr>
        </p:sp>
      </p:grpSp>
      <p:sp>
        <p:nvSpPr>
          <p:cNvPr id="12" name="TextBox 11">
            <a:extLst>
              <a:ext uri="{FF2B5EF4-FFF2-40B4-BE49-F238E27FC236}">
                <a16:creationId xmlns:a16="http://schemas.microsoft.com/office/drawing/2014/main" id="{DCF84632-2EC9-A0FC-F6D4-7A475872193D}"/>
              </a:ext>
            </a:extLst>
          </p:cNvPr>
          <p:cNvSpPr txBox="1"/>
          <p:nvPr/>
        </p:nvSpPr>
        <p:spPr>
          <a:xfrm>
            <a:off x="8588991" y="5324060"/>
            <a:ext cx="9110727" cy="2308324"/>
          </a:xfrm>
          <a:prstGeom prst="rect">
            <a:avLst/>
          </a:prstGeom>
          <a:noFill/>
        </p:spPr>
        <p:txBody>
          <a:bodyPr wrap="square" rtlCol="0">
            <a:spAutoFit/>
          </a:bodyPr>
          <a:lstStyle/>
          <a:p>
            <a:pPr marL="342900" lvl="0" indent="-342900">
              <a:buFont typeface="Arial" panose="020B0604020202020204" pitchFamily="34" charset="0"/>
              <a:buChar char="•"/>
            </a:pPr>
            <a:r>
              <a:rPr lang="en-IN" sz="2400" dirty="0">
                <a:solidFill>
                  <a:schemeClr val="bg1"/>
                </a:solidFill>
              </a:rPr>
              <a:t>Above 50: 13,706 tickets, 4.12 days, satisfaction 4.16</a:t>
            </a:r>
          </a:p>
          <a:p>
            <a:pPr lvl="0"/>
            <a:endParaRPr lang="en-IN" sz="2400" dirty="0">
              <a:solidFill>
                <a:schemeClr val="bg1"/>
              </a:solidFill>
            </a:endParaRPr>
          </a:p>
          <a:p>
            <a:pPr marL="342900" lvl="0" indent="-342900">
              <a:buFont typeface="Arial" panose="020B0604020202020204" pitchFamily="34" charset="0"/>
              <a:buChar char="•"/>
            </a:pPr>
            <a:r>
              <a:rPr lang="en-IN" sz="2400" dirty="0">
                <a:solidFill>
                  <a:schemeClr val="bg1"/>
                </a:solidFill>
              </a:rPr>
              <a:t>41-50: most tickets (42,840), slowest (4.66 days), satisfaction 4.05</a:t>
            </a:r>
          </a:p>
          <a:p>
            <a:pPr lvl="0"/>
            <a:endParaRPr lang="en-IN" sz="2400" dirty="0">
              <a:solidFill>
                <a:schemeClr val="bg1"/>
              </a:solidFill>
            </a:endParaRPr>
          </a:p>
          <a:p>
            <a:pPr marL="342900" lvl="0" indent="-342900">
              <a:buFont typeface="Arial" panose="020B0604020202020204" pitchFamily="34" charset="0"/>
              <a:buChar char="•"/>
            </a:pPr>
            <a:r>
              <a:rPr lang="en-IN" sz="2400" dirty="0">
                <a:solidFill>
                  <a:schemeClr val="bg1"/>
                </a:solidFill>
              </a:rPr>
              <a:t>30-40: 40,952 tickets, 4.59 days, satisfaction 4.13</a:t>
            </a:r>
          </a:p>
          <a:p>
            <a:pPr marL="342900" indent="-342900">
              <a:buFont typeface="Arial" panose="020B0604020202020204" pitchFamily="34" charset="0"/>
              <a:buChar char="•"/>
            </a:pPr>
            <a:endParaRPr lang="en-IN" sz="2400" dirty="0">
              <a:solidFill>
                <a:schemeClr val="bg2"/>
              </a:solidFill>
              <a:latin typeface="Inter 1" panose="020B0604020202020204" charset="0"/>
              <a:ea typeface="Inter 1" panose="020B0604020202020204" charset="0"/>
            </a:endParaRPr>
          </a:p>
        </p:txBody>
      </p:sp>
      <p:pic>
        <p:nvPicPr>
          <p:cNvPr id="8" name="Picture 7">
            <a:extLst>
              <a:ext uri="{FF2B5EF4-FFF2-40B4-BE49-F238E27FC236}">
                <a16:creationId xmlns:a16="http://schemas.microsoft.com/office/drawing/2014/main" id="{AA319D82-082A-3E68-3DE1-4A5D959D26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888" y="3040171"/>
            <a:ext cx="7226341" cy="43694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a:off x="1010711" y="5740151"/>
            <a:ext cx="830191" cy="83019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10711" y="7083568"/>
            <a:ext cx="830191" cy="83019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10711" y="8428109"/>
            <a:ext cx="830191" cy="83019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10" name="TextBox 10"/>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2166452" y="7245391"/>
            <a:ext cx="5618430" cy="1244032"/>
          </a:xfrm>
          <a:prstGeom prst="rect">
            <a:avLst/>
          </a:prstGeom>
        </p:spPr>
        <p:txBody>
          <a:bodyPr lIns="0" tIns="0" rIns="0" bIns="0" rtlCol="0" anchor="t">
            <a:spAutoFit/>
          </a:bodyPr>
          <a:lstStyle/>
          <a:p>
            <a:pPr algn="l">
              <a:lnSpc>
                <a:spcPts val="3359"/>
              </a:lnSpc>
            </a:pPr>
            <a:r>
              <a:rPr lang="en-US" sz="2400" dirty="0">
                <a:solidFill>
                  <a:srgbClr val="F8FAFC"/>
                </a:solidFill>
                <a:latin typeface="Inter 1"/>
                <a:ea typeface="Inter 1"/>
                <a:cs typeface="Inter 1"/>
                <a:sym typeface="Inter 1"/>
              </a:rPr>
              <a:t>Avg. Satisfaction</a:t>
            </a:r>
          </a:p>
          <a:p>
            <a:pPr algn="l">
              <a:lnSpc>
                <a:spcPts val="3359"/>
              </a:lnSpc>
            </a:pPr>
            <a:r>
              <a:rPr lang="en-US" sz="2400" dirty="0">
                <a:solidFill>
                  <a:srgbClr val="F8FAFC"/>
                </a:solidFill>
                <a:latin typeface="Inter 1"/>
                <a:ea typeface="Inter 1"/>
                <a:cs typeface="Inter 1"/>
                <a:sym typeface="Inter 1"/>
              </a:rPr>
              <a:t>4.1 / 5</a:t>
            </a:r>
          </a:p>
          <a:p>
            <a:pPr algn="l">
              <a:lnSpc>
                <a:spcPts val="3359"/>
              </a:lnSpc>
            </a:pPr>
            <a:endParaRPr lang="en-US" sz="2400" dirty="0">
              <a:solidFill>
                <a:srgbClr val="F8FAFC"/>
              </a:solidFill>
              <a:latin typeface="Inter 1"/>
              <a:ea typeface="Inter 1"/>
              <a:cs typeface="Inter 1"/>
              <a:sym typeface="Inter 1"/>
            </a:endParaRPr>
          </a:p>
        </p:txBody>
      </p:sp>
      <p:sp>
        <p:nvSpPr>
          <p:cNvPr id="12" name="TextBox 12"/>
          <p:cNvSpPr txBox="1"/>
          <p:nvPr/>
        </p:nvSpPr>
        <p:spPr>
          <a:xfrm>
            <a:off x="2166452" y="8589932"/>
            <a:ext cx="4897572" cy="1244032"/>
          </a:xfrm>
          <a:prstGeom prst="rect">
            <a:avLst/>
          </a:prstGeom>
        </p:spPr>
        <p:txBody>
          <a:bodyPr lIns="0" tIns="0" rIns="0" bIns="0" rtlCol="0" anchor="t">
            <a:spAutoFit/>
          </a:bodyPr>
          <a:lstStyle/>
          <a:p>
            <a:pPr algn="l">
              <a:lnSpc>
                <a:spcPts val="3359"/>
              </a:lnSpc>
            </a:pPr>
            <a:r>
              <a:rPr lang="en-US" sz="2400" dirty="0">
                <a:solidFill>
                  <a:srgbClr val="F8FAFC"/>
                </a:solidFill>
                <a:latin typeface="Inter 1"/>
                <a:ea typeface="Inter 1"/>
                <a:cs typeface="Inter 1"/>
                <a:sym typeface="Inter 1"/>
              </a:rPr>
              <a:t>Avg. Resolution Time</a:t>
            </a:r>
          </a:p>
          <a:p>
            <a:pPr algn="l">
              <a:lnSpc>
                <a:spcPts val="3359"/>
              </a:lnSpc>
            </a:pPr>
            <a:r>
              <a:rPr lang="en-US" sz="2400" dirty="0">
                <a:solidFill>
                  <a:srgbClr val="F8FAFC"/>
                </a:solidFill>
                <a:latin typeface="Inter 1"/>
                <a:ea typeface="Inter 1"/>
                <a:cs typeface="Inter 1"/>
                <a:sym typeface="Inter 1"/>
              </a:rPr>
              <a:t>4.6 Days</a:t>
            </a:r>
          </a:p>
          <a:p>
            <a:pPr algn="l">
              <a:lnSpc>
                <a:spcPts val="3359"/>
              </a:lnSpc>
            </a:pPr>
            <a:endParaRPr lang="en-US" sz="2400" dirty="0">
              <a:solidFill>
                <a:srgbClr val="F8FAFC"/>
              </a:solidFill>
              <a:latin typeface="Inter 1"/>
              <a:ea typeface="Inter 1"/>
              <a:cs typeface="Inter 1"/>
              <a:sym typeface="Inter 1"/>
            </a:endParaRPr>
          </a:p>
        </p:txBody>
      </p:sp>
      <p:grpSp>
        <p:nvGrpSpPr>
          <p:cNvPr id="13" name="Group 13"/>
          <p:cNvGrpSpPr/>
          <p:nvPr/>
        </p:nvGrpSpPr>
        <p:grpSpPr>
          <a:xfrm>
            <a:off x="11205987" y="5740151"/>
            <a:ext cx="830191" cy="83019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1205987" y="7083568"/>
            <a:ext cx="830191" cy="830191"/>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18" name="TextBox 18"/>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19" name="Group 19"/>
          <p:cNvGrpSpPr/>
          <p:nvPr/>
        </p:nvGrpSpPr>
        <p:grpSpPr>
          <a:xfrm>
            <a:off x="11205987" y="8428109"/>
            <a:ext cx="830191" cy="830191"/>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rot="3099748">
            <a:off x="10622279" y="1887266"/>
            <a:ext cx="2598127" cy="844761"/>
            <a:chOff x="0" y="0"/>
            <a:chExt cx="1249914" cy="406400"/>
          </a:xfrm>
        </p:grpSpPr>
        <p:sp>
          <p:nvSpPr>
            <p:cNvPr id="23" name="Freeform 23"/>
            <p:cNvSpPr/>
            <p:nvPr/>
          </p:nvSpPr>
          <p:spPr>
            <a:xfrm>
              <a:off x="0" y="0"/>
              <a:ext cx="1249914" cy="406400"/>
            </a:xfrm>
            <a:custGeom>
              <a:avLst/>
              <a:gdLst/>
              <a:ahLst/>
              <a:cxnLst/>
              <a:rect l="l" t="t" r="r" b="b"/>
              <a:pathLst>
                <a:path w="1249914" h="406400">
                  <a:moveTo>
                    <a:pt x="1046714" y="0"/>
                  </a:moveTo>
                  <a:cubicBezTo>
                    <a:pt x="1158938" y="0"/>
                    <a:pt x="1249914" y="90976"/>
                    <a:pt x="1249914" y="203200"/>
                  </a:cubicBezTo>
                  <a:cubicBezTo>
                    <a:pt x="1249914" y="315424"/>
                    <a:pt x="1158938" y="406400"/>
                    <a:pt x="1046714"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24" name="TextBox 24"/>
            <p:cNvSpPr txBox="1"/>
            <p:nvPr/>
          </p:nvSpPr>
          <p:spPr>
            <a:xfrm>
              <a:off x="0" y="-57150"/>
              <a:ext cx="1249914" cy="46355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rot="3099748">
            <a:off x="12118285" y="1887266"/>
            <a:ext cx="2598127" cy="844761"/>
            <a:chOff x="0" y="0"/>
            <a:chExt cx="1249914" cy="406400"/>
          </a:xfrm>
        </p:grpSpPr>
        <p:sp>
          <p:nvSpPr>
            <p:cNvPr id="26" name="Freeform 26"/>
            <p:cNvSpPr/>
            <p:nvPr/>
          </p:nvSpPr>
          <p:spPr>
            <a:xfrm>
              <a:off x="0" y="0"/>
              <a:ext cx="1249914" cy="406400"/>
            </a:xfrm>
            <a:custGeom>
              <a:avLst/>
              <a:gdLst/>
              <a:ahLst/>
              <a:cxnLst/>
              <a:rect l="l" t="t" r="r" b="b"/>
              <a:pathLst>
                <a:path w="1249914" h="406400">
                  <a:moveTo>
                    <a:pt x="1046714" y="0"/>
                  </a:moveTo>
                  <a:cubicBezTo>
                    <a:pt x="1158938" y="0"/>
                    <a:pt x="1249914" y="90976"/>
                    <a:pt x="1249914" y="203200"/>
                  </a:cubicBezTo>
                  <a:cubicBezTo>
                    <a:pt x="1249914" y="315424"/>
                    <a:pt x="1158938" y="406400"/>
                    <a:pt x="1046714"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27" name="TextBox 27"/>
            <p:cNvSpPr txBox="1"/>
            <p:nvPr/>
          </p:nvSpPr>
          <p:spPr>
            <a:xfrm>
              <a:off x="0" y="-57150"/>
              <a:ext cx="1249914" cy="463550"/>
            </a:xfrm>
            <a:prstGeom prst="rect">
              <a:avLst/>
            </a:prstGeom>
          </p:spPr>
          <p:txBody>
            <a:bodyPr lIns="50800" tIns="50800" rIns="50800" bIns="50800" rtlCol="0" anchor="ctr"/>
            <a:lstStyle/>
            <a:p>
              <a:pPr algn="ctr">
                <a:lnSpc>
                  <a:spcPts val="2659"/>
                </a:lnSpc>
              </a:pPr>
              <a:endParaRPr/>
            </a:p>
          </p:txBody>
        </p:sp>
      </p:grpSp>
      <p:grpSp>
        <p:nvGrpSpPr>
          <p:cNvPr id="28" name="Group 28"/>
          <p:cNvGrpSpPr/>
          <p:nvPr/>
        </p:nvGrpSpPr>
        <p:grpSpPr>
          <a:xfrm rot="7826840">
            <a:off x="13511451" y="1950034"/>
            <a:ext cx="2598127" cy="844761"/>
            <a:chOff x="0" y="0"/>
            <a:chExt cx="1249914" cy="406400"/>
          </a:xfrm>
        </p:grpSpPr>
        <p:sp>
          <p:nvSpPr>
            <p:cNvPr id="29" name="Freeform 29"/>
            <p:cNvSpPr/>
            <p:nvPr/>
          </p:nvSpPr>
          <p:spPr>
            <a:xfrm>
              <a:off x="0" y="0"/>
              <a:ext cx="1249914" cy="406400"/>
            </a:xfrm>
            <a:custGeom>
              <a:avLst/>
              <a:gdLst/>
              <a:ahLst/>
              <a:cxnLst/>
              <a:rect l="l" t="t" r="r" b="b"/>
              <a:pathLst>
                <a:path w="1249914" h="406400">
                  <a:moveTo>
                    <a:pt x="1046714" y="0"/>
                  </a:moveTo>
                  <a:cubicBezTo>
                    <a:pt x="1158938" y="0"/>
                    <a:pt x="1249914" y="90976"/>
                    <a:pt x="1249914" y="203200"/>
                  </a:cubicBezTo>
                  <a:cubicBezTo>
                    <a:pt x="1249914" y="315424"/>
                    <a:pt x="1158938" y="406400"/>
                    <a:pt x="1046714"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30" name="TextBox 30"/>
            <p:cNvSpPr txBox="1"/>
            <p:nvPr/>
          </p:nvSpPr>
          <p:spPr>
            <a:xfrm>
              <a:off x="0" y="-57150"/>
              <a:ext cx="1249914" cy="463550"/>
            </a:xfrm>
            <a:prstGeom prst="rect">
              <a:avLst/>
            </a:prstGeom>
          </p:spPr>
          <p:txBody>
            <a:bodyPr lIns="50800" tIns="50800" rIns="50800" bIns="50800" rtlCol="0" anchor="ctr"/>
            <a:lstStyle/>
            <a:p>
              <a:pPr algn="ctr">
                <a:lnSpc>
                  <a:spcPts val="2659"/>
                </a:lnSpc>
              </a:pPr>
              <a:endParaRPr/>
            </a:p>
          </p:txBody>
        </p:sp>
      </p:grpSp>
      <p:grpSp>
        <p:nvGrpSpPr>
          <p:cNvPr id="31" name="Group 31"/>
          <p:cNvGrpSpPr/>
          <p:nvPr/>
        </p:nvGrpSpPr>
        <p:grpSpPr>
          <a:xfrm rot="3378727">
            <a:off x="12207081" y="2761538"/>
            <a:ext cx="883812" cy="883812"/>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B6D4"/>
            </a:solidFill>
          </p:spPr>
        </p:sp>
        <p:sp>
          <p:nvSpPr>
            <p:cNvPr id="33" name="TextBox 33"/>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34" name="Group 34"/>
          <p:cNvGrpSpPr/>
          <p:nvPr/>
        </p:nvGrpSpPr>
        <p:grpSpPr>
          <a:xfrm rot="3378727">
            <a:off x="15507294" y="2761538"/>
            <a:ext cx="883812" cy="883812"/>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B6D4"/>
            </a:solidFill>
          </p:spPr>
        </p:sp>
        <p:sp>
          <p:nvSpPr>
            <p:cNvPr id="36" name="TextBox 36"/>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37" name="Group 37"/>
          <p:cNvGrpSpPr/>
          <p:nvPr/>
        </p:nvGrpSpPr>
        <p:grpSpPr>
          <a:xfrm rot="3378727">
            <a:off x="13662691" y="2761538"/>
            <a:ext cx="883812" cy="883812"/>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B6D4"/>
            </a:solidFill>
          </p:spPr>
        </p:sp>
        <p:sp>
          <p:nvSpPr>
            <p:cNvPr id="39" name="TextBox 39"/>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40" name="TextBox 40"/>
          <p:cNvSpPr txBox="1"/>
          <p:nvPr/>
        </p:nvSpPr>
        <p:spPr>
          <a:xfrm>
            <a:off x="1951608" y="2666835"/>
            <a:ext cx="6756182" cy="758215"/>
          </a:xfrm>
          <a:prstGeom prst="rect">
            <a:avLst/>
          </a:prstGeom>
        </p:spPr>
        <p:txBody>
          <a:bodyPr lIns="0" tIns="0" rIns="0" bIns="0" rtlCol="0" anchor="t">
            <a:spAutoFit/>
          </a:bodyPr>
          <a:lstStyle/>
          <a:p>
            <a:pPr algn="l">
              <a:lnSpc>
                <a:spcPts val="5280"/>
              </a:lnSpc>
            </a:pPr>
            <a:r>
              <a:rPr lang="en-US" sz="5500" b="1">
                <a:solidFill>
                  <a:srgbClr val="F8FAFC"/>
                </a:solidFill>
                <a:latin typeface="Poppins Bold"/>
                <a:ea typeface="Poppins Bold"/>
                <a:cs typeface="Poppins Bold"/>
                <a:sym typeface="Poppins Bold"/>
              </a:rPr>
              <a:t>Key Metrics</a:t>
            </a:r>
          </a:p>
        </p:txBody>
      </p:sp>
      <p:sp>
        <p:nvSpPr>
          <p:cNvPr id="41" name="TextBox 41"/>
          <p:cNvSpPr txBox="1"/>
          <p:nvPr/>
        </p:nvSpPr>
        <p:spPr>
          <a:xfrm>
            <a:off x="2166452" y="5794518"/>
            <a:ext cx="5618430" cy="1270052"/>
          </a:xfrm>
          <a:prstGeom prst="rect">
            <a:avLst/>
          </a:prstGeom>
        </p:spPr>
        <p:txBody>
          <a:bodyPr lIns="0" tIns="0" rIns="0" bIns="0" rtlCol="0" anchor="t">
            <a:spAutoFit/>
          </a:bodyPr>
          <a:lstStyle/>
          <a:p>
            <a:pPr algn="l">
              <a:lnSpc>
                <a:spcPts val="3499"/>
              </a:lnSpc>
            </a:pPr>
            <a:r>
              <a:rPr lang="en-US" sz="2499" dirty="0">
                <a:solidFill>
                  <a:srgbClr val="F8FAFC"/>
                </a:solidFill>
                <a:latin typeface="Inter 1"/>
                <a:ea typeface="Inter 1"/>
                <a:cs typeface="Inter 1"/>
                <a:sym typeface="Inter 1"/>
              </a:rPr>
              <a:t>Total Tickets</a:t>
            </a:r>
          </a:p>
          <a:p>
            <a:pPr algn="l">
              <a:lnSpc>
                <a:spcPts val="3359"/>
              </a:lnSpc>
            </a:pPr>
            <a:r>
              <a:rPr lang="en-US" sz="2400" dirty="0">
                <a:solidFill>
                  <a:srgbClr val="F8FAFC"/>
                </a:solidFill>
                <a:latin typeface="Inter 1"/>
                <a:ea typeface="Inter 1"/>
                <a:cs typeface="Inter 1"/>
                <a:sym typeface="Inter 1"/>
              </a:rPr>
              <a:t>97,498</a:t>
            </a:r>
          </a:p>
          <a:p>
            <a:pPr algn="l">
              <a:lnSpc>
                <a:spcPts val="3499"/>
              </a:lnSpc>
            </a:pPr>
            <a:endParaRPr lang="en-US" sz="2400" dirty="0">
              <a:solidFill>
                <a:srgbClr val="F8FAFC"/>
              </a:solidFill>
              <a:latin typeface="Inter 1"/>
              <a:ea typeface="Inter 1"/>
              <a:cs typeface="Inter 1"/>
              <a:sym typeface="Inter 1"/>
            </a:endParaRPr>
          </a:p>
        </p:txBody>
      </p:sp>
      <p:sp>
        <p:nvSpPr>
          <p:cNvPr id="42" name="TextBox 42"/>
          <p:cNvSpPr txBox="1"/>
          <p:nvPr/>
        </p:nvSpPr>
        <p:spPr>
          <a:xfrm>
            <a:off x="1140099" y="5929840"/>
            <a:ext cx="571415" cy="412713"/>
          </a:xfrm>
          <a:prstGeom prst="rect">
            <a:avLst/>
          </a:prstGeom>
        </p:spPr>
        <p:txBody>
          <a:bodyPr lIns="0" tIns="0" rIns="0" bIns="0" rtlCol="0" anchor="t">
            <a:spAutoFit/>
          </a:bodyPr>
          <a:lstStyle/>
          <a:p>
            <a:pPr algn="ctr">
              <a:lnSpc>
                <a:spcPts val="3499"/>
              </a:lnSpc>
            </a:pPr>
            <a:r>
              <a:rPr lang="en-US" sz="2499" b="1">
                <a:solidFill>
                  <a:srgbClr val="0F172A"/>
                </a:solidFill>
                <a:latin typeface="Inter 1 Bold"/>
                <a:ea typeface="Inter 1 Bold"/>
                <a:cs typeface="Inter 1 Bold"/>
                <a:sym typeface="Inter 1 Bold"/>
              </a:rPr>
              <a:t>01</a:t>
            </a:r>
          </a:p>
        </p:txBody>
      </p:sp>
      <p:sp>
        <p:nvSpPr>
          <p:cNvPr id="43" name="TextBox 43"/>
          <p:cNvSpPr txBox="1"/>
          <p:nvPr/>
        </p:nvSpPr>
        <p:spPr>
          <a:xfrm>
            <a:off x="1140099" y="7254916"/>
            <a:ext cx="571415" cy="412713"/>
          </a:xfrm>
          <a:prstGeom prst="rect">
            <a:avLst/>
          </a:prstGeom>
        </p:spPr>
        <p:txBody>
          <a:bodyPr lIns="0" tIns="0" rIns="0" bIns="0" rtlCol="0" anchor="t">
            <a:spAutoFit/>
          </a:bodyPr>
          <a:lstStyle/>
          <a:p>
            <a:pPr algn="ctr">
              <a:lnSpc>
                <a:spcPts val="3499"/>
              </a:lnSpc>
            </a:pPr>
            <a:r>
              <a:rPr lang="en-US" sz="2499" b="1">
                <a:solidFill>
                  <a:srgbClr val="0F172A"/>
                </a:solidFill>
                <a:latin typeface="Inter 1 Bold"/>
                <a:ea typeface="Inter 1 Bold"/>
                <a:cs typeface="Inter 1 Bold"/>
                <a:sym typeface="Inter 1 Bold"/>
              </a:rPr>
              <a:t>02</a:t>
            </a:r>
          </a:p>
        </p:txBody>
      </p:sp>
      <p:sp>
        <p:nvSpPr>
          <p:cNvPr id="44" name="TextBox 44"/>
          <p:cNvSpPr txBox="1"/>
          <p:nvPr/>
        </p:nvSpPr>
        <p:spPr>
          <a:xfrm>
            <a:off x="1140099" y="8618609"/>
            <a:ext cx="571415" cy="412713"/>
          </a:xfrm>
          <a:prstGeom prst="rect">
            <a:avLst/>
          </a:prstGeom>
        </p:spPr>
        <p:txBody>
          <a:bodyPr lIns="0" tIns="0" rIns="0" bIns="0" rtlCol="0" anchor="t">
            <a:spAutoFit/>
          </a:bodyPr>
          <a:lstStyle/>
          <a:p>
            <a:pPr algn="ctr">
              <a:lnSpc>
                <a:spcPts val="3499"/>
              </a:lnSpc>
            </a:pPr>
            <a:r>
              <a:rPr lang="en-US" sz="2499" b="1">
                <a:solidFill>
                  <a:srgbClr val="0F172A"/>
                </a:solidFill>
                <a:latin typeface="Inter 1 Bold"/>
                <a:ea typeface="Inter 1 Bold"/>
                <a:cs typeface="Inter 1 Bold"/>
                <a:sym typeface="Inter 1 Bold"/>
              </a:rPr>
              <a:t>03</a:t>
            </a:r>
          </a:p>
        </p:txBody>
      </p:sp>
      <p:sp>
        <p:nvSpPr>
          <p:cNvPr id="45" name="TextBox 45"/>
          <p:cNvSpPr txBox="1"/>
          <p:nvPr/>
        </p:nvSpPr>
        <p:spPr>
          <a:xfrm>
            <a:off x="12361728" y="5911499"/>
            <a:ext cx="3930967" cy="1270052"/>
          </a:xfrm>
          <a:prstGeom prst="rect">
            <a:avLst/>
          </a:prstGeom>
        </p:spPr>
        <p:txBody>
          <a:bodyPr lIns="0" tIns="0" rIns="0" bIns="0" rtlCol="0" anchor="t">
            <a:spAutoFit/>
          </a:bodyPr>
          <a:lstStyle/>
          <a:p>
            <a:pPr algn="l">
              <a:lnSpc>
                <a:spcPts val="3499"/>
              </a:lnSpc>
            </a:pPr>
            <a:r>
              <a:rPr lang="en-US" sz="2499" dirty="0">
                <a:solidFill>
                  <a:srgbClr val="F8FAFC"/>
                </a:solidFill>
                <a:latin typeface="Inter 1"/>
                <a:ea typeface="Inter 1"/>
                <a:cs typeface="Inter 1"/>
                <a:sym typeface="Inter 1"/>
              </a:rPr>
              <a:t>Highest Ticket Category</a:t>
            </a:r>
          </a:p>
          <a:p>
            <a:pPr algn="l">
              <a:lnSpc>
                <a:spcPts val="3359"/>
              </a:lnSpc>
            </a:pPr>
            <a:r>
              <a:rPr lang="en-US" sz="2400" dirty="0">
                <a:solidFill>
                  <a:srgbClr val="F8FAFC"/>
                </a:solidFill>
                <a:latin typeface="Inter 1"/>
                <a:ea typeface="Inter 1"/>
                <a:cs typeface="Inter 1"/>
                <a:sym typeface="Inter 1"/>
              </a:rPr>
              <a:t>System — 39,002</a:t>
            </a:r>
          </a:p>
          <a:p>
            <a:pPr algn="l">
              <a:lnSpc>
                <a:spcPts val="3499"/>
              </a:lnSpc>
            </a:pPr>
            <a:endParaRPr lang="en-US" sz="2400" dirty="0">
              <a:solidFill>
                <a:srgbClr val="F8FAFC"/>
              </a:solidFill>
              <a:latin typeface="Inter 1"/>
              <a:ea typeface="Inter 1"/>
              <a:cs typeface="Inter 1"/>
              <a:sym typeface="Inter 1"/>
            </a:endParaRPr>
          </a:p>
        </p:txBody>
      </p:sp>
      <p:sp>
        <p:nvSpPr>
          <p:cNvPr id="46" name="TextBox 46"/>
          <p:cNvSpPr txBox="1"/>
          <p:nvPr/>
        </p:nvSpPr>
        <p:spPr>
          <a:xfrm>
            <a:off x="12361728" y="7245391"/>
            <a:ext cx="4897572" cy="1244032"/>
          </a:xfrm>
          <a:prstGeom prst="rect">
            <a:avLst/>
          </a:prstGeom>
        </p:spPr>
        <p:txBody>
          <a:bodyPr lIns="0" tIns="0" rIns="0" bIns="0" rtlCol="0" anchor="t">
            <a:spAutoFit/>
          </a:bodyPr>
          <a:lstStyle/>
          <a:p>
            <a:pPr algn="l">
              <a:lnSpc>
                <a:spcPts val="3359"/>
              </a:lnSpc>
            </a:pPr>
            <a:r>
              <a:rPr lang="en-US" sz="2400" dirty="0">
                <a:solidFill>
                  <a:srgbClr val="F8FAFC"/>
                </a:solidFill>
                <a:latin typeface="Inter 1"/>
                <a:ea typeface="Inter 1"/>
                <a:cs typeface="Inter 1"/>
                <a:sym typeface="Inter 1"/>
              </a:rPr>
              <a:t>Main Issue Type</a:t>
            </a:r>
          </a:p>
          <a:p>
            <a:pPr algn="l">
              <a:lnSpc>
                <a:spcPts val="3359"/>
              </a:lnSpc>
            </a:pPr>
            <a:r>
              <a:rPr lang="en-US" sz="2400" dirty="0">
                <a:solidFill>
                  <a:srgbClr val="F8FAFC"/>
                </a:solidFill>
                <a:latin typeface="Inter 1"/>
                <a:ea typeface="Inter 1"/>
                <a:cs typeface="Inter 1"/>
                <a:sym typeface="Inter 1"/>
              </a:rPr>
              <a:t>IT Request — 73,220</a:t>
            </a:r>
          </a:p>
          <a:p>
            <a:pPr algn="l">
              <a:lnSpc>
                <a:spcPts val="3359"/>
              </a:lnSpc>
            </a:pPr>
            <a:endParaRPr lang="en-US" sz="2400" dirty="0">
              <a:solidFill>
                <a:srgbClr val="F8FAFC"/>
              </a:solidFill>
              <a:latin typeface="Inter 1"/>
              <a:ea typeface="Inter 1"/>
              <a:cs typeface="Inter 1"/>
              <a:sym typeface="Inter 1"/>
            </a:endParaRPr>
          </a:p>
        </p:txBody>
      </p:sp>
      <p:sp>
        <p:nvSpPr>
          <p:cNvPr id="47" name="TextBox 47"/>
          <p:cNvSpPr txBox="1"/>
          <p:nvPr/>
        </p:nvSpPr>
        <p:spPr>
          <a:xfrm>
            <a:off x="12361728" y="8589932"/>
            <a:ext cx="4897572" cy="1244032"/>
          </a:xfrm>
          <a:prstGeom prst="rect">
            <a:avLst/>
          </a:prstGeom>
        </p:spPr>
        <p:txBody>
          <a:bodyPr lIns="0" tIns="0" rIns="0" bIns="0" rtlCol="0" anchor="t">
            <a:spAutoFit/>
          </a:bodyPr>
          <a:lstStyle/>
          <a:p>
            <a:pPr algn="l">
              <a:lnSpc>
                <a:spcPts val="3359"/>
              </a:lnSpc>
            </a:pPr>
            <a:r>
              <a:rPr lang="en-US" sz="2400" dirty="0">
                <a:solidFill>
                  <a:srgbClr val="F8FAFC"/>
                </a:solidFill>
                <a:latin typeface="Inter 1"/>
                <a:ea typeface="Inter 1"/>
                <a:cs typeface="Inter 1"/>
                <a:sym typeface="Inter 1"/>
              </a:rPr>
              <a:t>Analysis Period</a:t>
            </a:r>
          </a:p>
          <a:p>
            <a:pPr algn="l">
              <a:lnSpc>
                <a:spcPts val="3359"/>
              </a:lnSpc>
            </a:pPr>
            <a:r>
              <a:rPr lang="en-US" sz="2400" dirty="0">
                <a:solidFill>
                  <a:srgbClr val="F8FAFC"/>
                </a:solidFill>
                <a:latin typeface="Inter 1"/>
                <a:ea typeface="Inter 1"/>
                <a:cs typeface="Inter 1"/>
                <a:sym typeface="Inter 1"/>
              </a:rPr>
              <a:t>2016–2020</a:t>
            </a:r>
          </a:p>
          <a:p>
            <a:pPr algn="l">
              <a:lnSpc>
                <a:spcPts val="3359"/>
              </a:lnSpc>
            </a:pPr>
            <a:endParaRPr lang="en-US" sz="2400" dirty="0">
              <a:solidFill>
                <a:srgbClr val="F8FAFC"/>
              </a:solidFill>
              <a:latin typeface="Inter 1"/>
              <a:ea typeface="Inter 1"/>
              <a:cs typeface="Inter 1"/>
              <a:sym typeface="Inter 1"/>
            </a:endParaRPr>
          </a:p>
        </p:txBody>
      </p:sp>
      <p:sp>
        <p:nvSpPr>
          <p:cNvPr id="48" name="TextBox 48"/>
          <p:cNvSpPr txBox="1"/>
          <p:nvPr/>
        </p:nvSpPr>
        <p:spPr>
          <a:xfrm>
            <a:off x="11335375" y="5929840"/>
            <a:ext cx="571415" cy="412713"/>
          </a:xfrm>
          <a:prstGeom prst="rect">
            <a:avLst/>
          </a:prstGeom>
        </p:spPr>
        <p:txBody>
          <a:bodyPr lIns="0" tIns="0" rIns="0" bIns="0" rtlCol="0" anchor="t">
            <a:spAutoFit/>
          </a:bodyPr>
          <a:lstStyle/>
          <a:p>
            <a:pPr algn="ctr">
              <a:lnSpc>
                <a:spcPts val="3499"/>
              </a:lnSpc>
            </a:pPr>
            <a:r>
              <a:rPr lang="en-US" sz="2499" b="1">
                <a:solidFill>
                  <a:srgbClr val="0F172A"/>
                </a:solidFill>
                <a:latin typeface="Inter 1 Bold"/>
                <a:ea typeface="Inter 1 Bold"/>
                <a:cs typeface="Inter 1 Bold"/>
                <a:sym typeface="Inter 1 Bold"/>
              </a:rPr>
              <a:t>04</a:t>
            </a:r>
          </a:p>
        </p:txBody>
      </p:sp>
      <p:sp>
        <p:nvSpPr>
          <p:cNvPr id="49" name="TextBox 49"/>
          <p:cNvSpPr txBox="1"/>
          <p:nvPr/>
        </p:nvSpPr>
        <p:spPr>
          <a:xfrm>
            <a:off x="11335375" y="7254916"/>
            <a:ext cx="571415" cy="412713"/>
          </a:xfrm>
          <a:prstGeom prst="rect">
            <a:avLst/>
          </a:prstGeom>
        </p:spPr>
        <p:txBody>
          <a:bodyPr lIns="0" tIns="0" rIns="0" bIns="0" rtlCol="0" anchor="t">
            <a:spAutoFit/>
          </a:bodyPr>
          <a:lstStyle/>
          <a:p>
            <a:pPr algn="ctr">
              <a:lnSpc>
                <a:spcPts val="3499"/>
              </a:lnSpc>
            </a:pPr>
            <a:r>
              <a:rPr lang="en-US" sz="2499" b="1">
                <a:solidFill>
                  <a:srgbClr val="0F172A"/>
                </a:solidFill>
                <a:latin typeface="Inter 1 Bold"/>
                <a:ea typeface="Inter 1 Bold"/>
                <a:cs typeface="Inter 1 Bold"/>
                <a:sym typeface="Inter 1 Bold"/>
              </a:rPr>
              <a:t>05</a:t>
            </a:r>
          </a:p>
        </p:txBody>
      </p:sp>
      <p:sp>
        <p:nvSpPr>
          <p:cNvPr id="50" name="TextBox 50"/>
          <p:cNvSpPr txBox="1"/>
          <p:nvPr/>
        </p:nvSpPr>
        <p:spPr>
          <a:xfrm>
            <a:off x="11335375" y="8618609"/>
            <a:ext cx="571415" cy="412713"/>
          </a:xfrm>
          <a:prstGeom prst="rect">
            <a:avLst/>
          </a:prstGeom>
        </p:spPr>
        <p:txBody>
          <a:bodyPr lIns="0" tIns="0" rIns="0" bIns="0" rtlCol="0" anchor="t">
            <a:spAutoFit/>
          </a:bodyPr>
          <a:lstStyle/>
          <a:p>
            <a:pPr algn="ctr">
              <a:lnSpc>
                <a:spcPts val="3499"/>
              </a:lnSpc>
            </a:pPr>
            <a:r>
              <a:rPr lang="en-US" sz="2499" b="1">
                <a:solidFill>
                  <a:srgbClr val="0F172A"/>
                </a:solidFill>
                <a:latin typeface="Inter 1 Bold"/>
                <a:ea typeface="Inter 1 Bold"/>
                <a:cs typeface="Inter 1 Bold"/>
                <a:sym typeface="Inter 1 Bold"/>
              </a:rPr>
              <a:t>06</a:t>
            </a:r>
          </a:p>
        </p:txBody>
      </p:sp>
      <p:grpSp>
        <p:nvGrpSpPr>
          <p:cNvPr id="51" name="Group 51"/>
          <p:cNvGrpSpPr/>
          <p:nvPr/>
        </p:nvGrpSpPr>
        <p:grpSpPr>
          <a:xfrm rot="3099748">
            <a:off x="10774679" y="2039666"/>
            <a:ext cx="2598127" cy="844761"/>
            <a:chOff x="0" y="0"/>
            <a:chExt cx="1249914" cy="406400"/>
          </a:xfrm>
        </p:grpSpPr>
        <p:sp>
          <p:nvSpPr>
            <p:cNvPr id="52" name="Freeform 52"/>
            <p:cNvSpPr/>
            <p:nvPr/>
          </p:nvSpPr>
          <p:spPr>
            <a:xfrm>
              <a:off x="0" y="0"/>
              <a:ext cx="1249914" cy="406400"/>
            </a:xfrm>
            <a:custGeom>
              <a:avLst/>
              <a:gdLst/>
              <a:ahLst/>
              <a:cxnLst/>
              <a:rect l="l" t="t" r="r" b="b"/>
              <a:pathLst>
                <a:path w="1249914" h="406400">
                  <a:moveTo>
                    <a:pt x="1046714" y="0"/>
                  </a:moveTo>
                  <a:cubicBezTo>
                    <a:pt x="1158938" y="0"/>
                    <a:pt x="1249914" y="90976"/>
                    <a:pt x="1249914" y="203200"/>
                  </a:cubicBezTo>
                  <a:cubicBezTo>
                    <a:pt x="1249914" y="315424"/>
                    <a:pt x="1158938" y="406400"/>
                    <a:pt x="1046714"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53" name="TextBox 53"/>
            <p:cNvSpPr txBox="1"/>
            <p:nvPr/>
          </p:nvSpPr>
          <p:spPr>
            <a:xfrm>
              <a:off x="0" y="-57150"/>
              <a:ext cx="1249914" cy="46355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2"/>
          <p:cNvSpPr txBox="1"/>
          <p:nvPr/>
        </p:nvSpPr>
        <p:spPr>
          <a:xfrm>
            <a:off x="2210699" y="1968855"/>
            <a:ext cx="8022194" cy="1543035"/>
          </a:xfrm>
          <a:prstGeom prst="rect">
            <a:avLst/>
          </a:prstGeom>
        </p:spPr>
        <p:txBody>
          <a:bodyPr lIns="0" tIns="0" rIns="0" bIns="0" rtlCol="0" anchor="t">
            <a:spAutoFit/>
          </a:bodyPr>
          <a:lstStyle/>
          <a:p>
            <a:pPr marL="0" lvl="0" indent="0" algn="l">
              <a:lnSpc>
                <a:spcPts val="5775"/>
              </a:lnSpc>
            </a:pPr>
            <a:r>
              <a:rPr lang="en-US" sz="5500" b="1" dirty="0">
                <a:solidFill>
                  <a:srgbClr val="FFFFFF"/>
                </a:solidFill>
                <a:latin typeface="Poppins Bold"/>
                <a:ea typeface="Poppins Bold"/>
                <a:cs typeface="Poppins Bold"/>
                <a:sym typeface="Poppins Bold"/>
              </a:rPr>
              <a:t>Recommendations: Supporting Our Team</a:t>
            </a:r>
          </a:p>
        </p:txBody>
      </p:sp>
      <p:sp>
        <p:nvSpPr>
          <p:cNvPr id="3" name="TextBox 3"/>
          <p:cNvSpPr txBox="1"/>
          <p:nvPr/>
        </p:nvSpPr>
        <p:spPr>
          <a:xfrm>
            <a:off x="2210699" y="4719291"/>
            <a:ext cx="13866603" cy="3887539"/>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FFFFFF"/>
                </a:solidFill>
                <a:latin typeface="Inter 1" panose="020B0604020202020204" charset="0"/>
                <a:ea typeface="Inter 1" panose="020B0604020202020204" charset="0"/>
                <a:cs typeface="Inter 2"/>
                <a:sym typeface="Inter 2"/>
              </a:rPr>
              <a:t>The Plan: 30-60day improvement plan for Lorena, </a:t>
            </a:r>
            <a:r>
              <a:rPr lang="en-US" sz="2400" dirty="0" err="1">
                <a:solidFill>
                  <a:srgbClr val="FFFFFF"/>
                </a:solidFill>
                <a:latin typeface="Inter 1" panose="020B0604020202020204" charset="0"/>
                <a:ea typeface="Inter 1" panose="020B0604020202020204" charset="0"/>
                <a:cs typeface="Inter 2"/>
                <a:sym typeface="Inter 2"/>
              </a:rPr>
              <a:t>Nurio</a:t>
            </a:r>
            <a:r>
              <a:rPr lang="en-US" sz="2400" dirty="0">
                <a:solidFill>
                  <a:srgbClr val="FFFFFF"/>
                </a:solidFill>
                <a:latin typeface="Inter 1" panose="020B0604020202020204" charset="0"/>
                <a:ea typeface="Inter 1" panose="020B0604020202020204" charset="0"/>
                <a:cs typeface="Inter 2"/>
                <a:sym typeface="Inter 2"/>
              </a:rPr>
              <a:t> Zepeda, Elena Velez and A. Trejo, paired with top performers like Jesus Grajeda and Diana Rojo.</a:t>
            </a:r>
          </a:p>
          <a:p>
            <a:pPr algn="l">
              <a:lnSpc>
                <a:spcPts val="3359"/>
              </a:lnSpc>
            </a:pPr>
            <a:endParaRPr lang="en-US" sz="2400" dirty="0">
              <a:solidFill>
                <a:srgbClr val="FFFFFF"/>
              </a:solidFill>
              <a:latin typeface="Inter 1" panose="020B0604020202020204" charset="0"/>
              <a:ea typeface="Inter 1" panose="020B0604020202020204" charset="0"/>
              <a:cs typeface="Inter 2"/>
              <a:sym typeface="Inter 2"/>
            </a:endParaRPr>
          </a:p>
          <a:p>
            <a:pPr marL="518160" lvl="1" indent="-259080" algn="l">
              <a:lnSpc>
                <a:spcPts val="3359"/>
              </a:lnSpc>
              <a:buFont typeface="Arial"/>
              <a:buChar char="•"/>
            </a:pPr>
            <a:r>
              <a:rPr lang="en-US" sz="2400" dirty="0">
                <a:solidFill>
                  <a:srgbClr val="FFFFFF"/>
                </a:solidFill>
                <a:latin typeface="Inter 1" panose="020B0604020202020204" charset="0"/>
                <a:ea typeface="Inter 1" panose="020B0604020202020204" charset="0"/>
                <a:cs typeface="Inter 2"/>
                <a:sym typeface="Inter 2"/>
              </a:rPr>
              <a:t>Why: They average 5.4 days and 3.61 satisfaction, against the team's 4.55 days and 4.10.</a:t>
            </a:r>
          </a:p>
          <a:p>
            <a:pPr algn="l">
              <a:lnSpc>
                <a:spcPts val="3359"/>
              </a:lnSpc>
            </a:pPr>
            <a:endParaRPr lang="en-US" sz="2400" dirty="0">
              <a:solidFill>
                <a:srgbClr val="FFFFFF"/>
              </a:solidFill>
              <a:latin typeface="Inter 1" panose="020B0604020202020204" charset="0"/>
              <a:ea typeface="Inter 1" panose="020B0604020202020204" charset="0"/>
              <a:cs typeface="Inter 2"/>
              <a:sym typeface="Inter 2"/>
            </a:endParaRPr>
          </a:p>
          <a:p>
            <a:pPr marL="518160" lvl="1" indent="-259080" algn="l">
              <a:lnSpc>
                <a:spcPts val="3359"/>
              </a:lnSpc>
              <a:buFont typeface="Arial"/>
              <a:buChar char="•"/>
            </a:pPr>
            <a:r>
              <a:rPr lang="en-US" sz="2400" dirty="0">
                <a:solidFill>
                  <a:srgbClr val="FFFFFF"/>
                </a:solidFill>
                <a:latin typeface="Inter 1" panose="020B0604020202020204" charset="0"/>
                <a:ea typeface="Inter 1" panose="020B0604020202020204" charset="0"/>
                <a:cs typeface="Inter 2"/>
                <a:sym typeface="Inter 2"/>
              </a:rPr>
              <a:t>Target: Reach the team average: -16% resolution time and +0.49 satisfaction.</a:t>
            </a:r>
          </a:p>
          <a:p>
            <a:pPr algn="l">
              <a:lnSpc>
                <a:spcPts val="3359"/>
              </a:lnSpc>
            </a:pPr>
            <a:endParaRPr lang="en-US" sz="2400" dirty="0">
              <a:solidFill>
                <a:srgbClr val="FFFFFF"/>
              </a:solidFill>
              <a:latin typeface="Inter 1" panose="020B0604020202020204" charset="0"/>
              <a:ea typeface="Inter 1" panose="020B0604020202020204" charset="0"/>
              <a:cs typeface="Inter 2"/>
              <a:sym typeface="Inter 2"/>
            </a:endParaRPr>
          </a:p>
          <a:p>
            <a:pPr marL="518160" lvl="1" indent="-259080" algn="l">
              <a:lnSpc>
                <a:spcPts val="3359"/>
              </a:lnSpc>
              <a:buFont typeface="Arial"/>
              <a:buChar char="•"/>
            </a:pPr>
            <a:r>
              <a:rPr lang="en-US" sz="2400" dirty="0">
                <a:solidFill>
                  <a:srgbClr val="FFFFFF"/>
                </a:solidFill>
                <a:latin typeface="Inter 1" panose="020B0604020202020204" charset="0"/>
                <a:ea typeface="Inter 1" panose="020B0604020202020204" charset="0"/>
                <a:cs typeface="Inter 2"/>
                <a:sym typeface="Inter 2"/>
              </a:rPr>
              <a:t>Key Insight: Do not fire anyone right away. If there is no improvement after support, take stricter action.</a:t>
            </a:r>
          </a:p>
        </p:txBody>
      </p:sp>
      <p:sp>
        <p:nvSpPr>
          <p:cNvPr id="4" name="AutoShape 4"/>
          <p:cNvSpPr/>
          <p:nvPr/>
        </p:nvSpPr>
        <p:spPr>
          <a:xfrm>
            <a:off x="2210699" y="4069111"/>
            <a:ext cx="13844095" cy="0"/>
          </a:xfrm>
          <a:prstGeom prst="line">
            <a:avLst/>
          </a:prstGeom>
          <a:ln w="38100" cap="flat">
            <a:solidFill>
              <a:srgbClr val="9FA0A7"/>
            </a:solidFill>
            <a:prstDash val="solid"/>
            <a:headEnd type="none" w="sm" len="sm"/>
            <a:tailEnd type="none" w="sm" len="sm"/>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2"/>
          <p:cNvSpPr txBox="1"/>
          <p:nvPr/>
        </p:nvSpPr>
        <p:spPr>
          <a:xfrm>
            <a:off x="2210698" y="1602146"/>
            <a:ext cx="9219301" cy="2276453"/>
          </a:xfrm>
          <a:prstGeom prst="rect">
            <a:avLst/>
          </a:prstGeom>
        </p:spPr>
        <p:txBody>
          <a:bodyPr wrap="square" lIns="0" tIns="0" rIns="0" bIns="0" rtlCol="0" anchor="t">
            <a:spAutoFit/>
          </a:bodyPr>
          <a:lstStyle/>
          <a:p>
            <a:pPr marL="0" lvl="0" indent="0" algn="l">
              <a:lnSpc>
                <a:spcPts val="5775"/>
              </a:lnSpc>
            </a:pPr>
            <a:r>
              <a:rPr lang="en-US" sz="5500" b="1" dirty="0">
                <a:solidFill>
                  <a:srgbClr val="FFFFFF"/>
                </a:solidFill>
                <a:latin typeface="Poppins Bold"/>
                <a:ea typeface="Poppins Bold"/>
                <a:cs typeface="Poppins Bold"/>
                <a:sym typeface="Poppins Bold"/>
              </a:rPr>
              <a:t>Recommendations: Fixing Slow Ticket Categories</a:t>
            </a:r>
          </a:p>
        </p:txBody>
      </p:sp>
      <p:sp>
        <p:nvSpPr>
          <p:cNvPr id="3" name="TextBox 3"/>
          <p:cNvSpPr txBox="1"/>
          <p:nvPr/>
        </p:nvSpPr>
        <p:spPr>
          <a:xfrm>
            <a:off x="2210699" y="4719291"/>
            <a:ext cx="13866603" cy="4759573"/>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FFFFFF"/>
                </a:solidFill>
                <a:latin typeface="Inter 1" panose="020B0604020202020204" charset="0"/>
                <a:ea typeface="Inter 1" panose="020B0604020202020204" charset="0"/>
                <a:cs typeface="Inter 2"/>
                <a:sym typeface="Inter 2"/>
              </a:rPr>
              <a:t>Where to Focus: System first (39,002 tickets, 6.62 days), then Hardware (9,733 tickets, 7.63 days).</a:t>
            </a:r>
          </a:p>
          <a:p>
            <a:pPr algn="l">
              <a:lnSpc>
                <a:spcPts val="3359"/>
              </a:lnSpc>
            </a:pPr>
            <a:endParaRPr lang="en-US" sz="2400" dirty="0">
              <a:solidFill>
                <a:srgbClr val="FFFFFF"/>
              </a:solidFill>
              <a:latin typeface="Inter 1" panose="020B0604020202020204" charset="0"/>
              <a:ea typeface="Inter 1" panose="020B0604020202020204" charset="0"/>
              <a:cs typeface="Inter 2"/>
              <a:sym typeface="Inter 2"/>
            </a:endParaRPr>
          </a:p>
          <a:p>
            <a:pPr marL="518160" lvl="1" indent="-259080" algn="l">
              <a:lnSpc>
                <a:spcPts val="3359"/>
              </a:lnSpc>
              <a:buFont typeface="Arial"/>
              <a:buChar char="•"/>
            </a:pPr>
            <a:r>
              <a:rPr lang="en-US" sz="2400" dirty="0">
                <a:solidFill>
                  <a:srgbClr val="FFFFFF"/>
                </a:solidFill>
                <a:latin typeface="Inter 1" panose="020B0604020202020204" charset="0"/>
                <a:ea typeface="Inter 1" panose="020B0604020202020204" charset="0"/>
                <a:cs typeface="Inter 2"/>
                <a:sym typeface="Inter 2"/>
              </a:rPr>
              <a:t>Target: Bring both to the Software level (5.24 days).</a:t>
            </a:r>
          </a:p>
          <a:p>
            <a:pPr algn="l">
              <a:lnSpc>
                <a:spcPts val="3359"/>
              </a:lnSpc>
            </a:pPr>
            <a:endParaRPr lang="en-US" sz="2400" dirty="0">
              <a:solidFill>
                <a:srgbClr val="FFFFFF"/>
              </a:solidFill>
              <a:latin typeface="Inter 1" panose="020B0604020202020204" charset="0"/>
              <a:ea typeface="Inter 1" panose="020B0604020202020204" charset="0"/>
              <a:cs typeface="Inter 2"/>
              <a:sym typeface="Inter 2"/>
            </a:endParaRPr>
          </a:p>
          <a:p>
            <a:pPr marL="518160" lvl="1" indent="-259080" algn="l">
              <a:lnSpc>
                <a:spcPts val="3359"/>
              </a:lnSpc>
              <a:buFont typeface="Arial"/>
              <a:buChar char="•"/>
            </a:pPr>
            <a:r>
              <a:rPr lang="en-US" sz="2400" dirty="0">
                <a:solidFill>
                  <a:srgbClr val="FFFFFF"/>
                </a:solidFill>
                <a:latin typeface="Inter 1" panose="020B0604020202020204" charset="0"/>
                <a:ea typeface="Inter 1" panose="020B0604020202020204" charset="0"/>
                <a:cs typeface="Inter 2"/>
                <a:sym typeface="Inter 2"/>
              </a:rPr>
              <a:t>Overall average 4.55 → about 3.76 days (-17%).</a:t>
            </a:r>
          </a:p>
          <a:p>
            <a:pPr algn="l">
              <a:lnSpc>
                <a:spcPts val="3359"/>
              </a:lnSpc>
            </a:pPr>
            <a:endParaRPr lang="en-US" sz="2400" dirty="0">
              <a:solidFill>
                <a:srgbClr val="FFFFFF"/>
              </a:solidFill>
              <a:latin typeface="Inter 1" panose="020B0604020202020204" charset="0"/>
              <a:ea typeface="Inter 1" panose="020B0604020202020204" charset="0"/>
              <a:cs typeface="Inter 2"/>
              <a:sym typeface="Inter 2"/>
            </a:endParaRPr>
          </a:p>
          <a:p>
            <a:pPr marL="518160" lvl="1" indent="-259080" algn="l">
              <a:lnSpc>
                <a:spcPts val="3359"/>
              </a:lnSpc>
              <a:buFont typeface="Arial"/>
              <a:buChar char="•"/>
            </a:pPr>
            <a:r>
              <a:rPr lang="en-US" sz="2400" dirty="0">
                <a:solidFill>
                  <a:srgbClr val="FFFFFF"/>
                </a:solidFill>
                <a:latin typeface="Inter 1" panose="020B0604020202020204" charset="0"/>
                <a:ea typeface="Inter 1" panose="020B0604020202020204" charset="0"/>
                <a:cs typeface="Inter 2"/>
                <a:sym typeface="Inter 2"/>
              </a:rPr>
              <a:t>Calculation: (2.39 × 9,733) + (1.38 × 39,002) ≈ 77,085 days saved.</a:t>
            </a:r>
          </a:p>
          <a:p>
            <a:pPr algn="l">
              <a:lnSpc>
                <a:spcPts val="3359"/>
              </a:lnSpc>
            </a:pPr>
            <a:endParaRPr lang="en-US" sz="2400" dirty="0">
              <a:solidFill>
                <a:srgbClr val="FFFFFF"/>
              </a:solidFill>
              <a:latin typeface="Inter 1" panose="020B0604020202020204" charset="0"/>
              <a:ea typeface="Inter 1" panose="020B0604020202020204" charset="0"/>
              <a:cs typeface="Inter 2"/>
              <a:sym typeface="Inter 2"/>
            </a:endParaRPr>
          </a:p>
          <a:p>
            <a:pPr marL="518160" lvl="1" indent="-259080" algn="l">
              <a:lnSpc>
                <a:spcPts val="3359"/>
              </a:lnSpc>
              <a:buFont typeface="Arial"/>
              <a:buChar char="•"/>
            </a:pPr>
            <a:r>
              <a:rPr lang="en-US" sz="2400" dirty="0">
                <a:solidFill>
                  <a:srgbClr val="FFFFFF"/>
                </a:solidFill>
                <a:latin typeface="Inter 1" panose="020B0604020202020204" charset="0"/>
                <a:ea typeface="Inter 1" panose="020B0604020202020204" charset="0"/>
                <a:cs typeface="Inter 2"/>
                <a:sym typeface="Inter 2"/>
              </a:rPr>
              <a:t>Key Insight: Hardware and System tickets take almost a week to fix. Fixing these two gives the biggest speed gain.</a:t>
            </a:r>
          </a:p>
        </p:txBody>
      </p:sp>
      <p:sp>
        <p:nvSpPr>
          <p:cNvPr id="4" name="AutoShape 4"/>
          <p:cNvSpPr/>
          <p:nvPr/>
        </p:nvSpPr>
        <p:spPr>
          <a:xfrm>
            <a:off x="2210699" y="4069111"/>
            <a:ext cx="13844095" cy="0"/>
          </a:xfrm>
          <a:prstGeom prst="line">
            <a:avLst/>
          </a:prstGeom>
          <a:ln w="38100" cap="flat">
            <a:solidFill>
              <a:srgbClr val="FFFFFF"/>
            </a:solidFill>
            <a:prstDash val="solid"/>
            <a:headEnd type="none" w="sm" len="sm"/>
            <a:tailEnd type="none" w="sm" len="sm"/>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2"/>
          <p:cNvSpPr txBox="1"/>
          <p:nvPr/>
        </p:nvSpPr>
        <p:spPr>
          <a:xfrm>
            <a:off x="2210699" y="1968855"/>
            <a:ext cx="8022194" cy="1543035"/>
          </a:xfrm>
          <a:prstGeom prst="rect">
            <a:avLst/>
          </a:prstGeom>
        </p:spPr>
        <p:txBody>
          <a:bodyPr lIns="0" tIns="0" rIns="0" bIns="0" rtlCol="0" anchor="t">
            <a:spAutoFit/>
          </a:bodyPr>
          <a:lstStyle/>
          <a:p>
            <a:pPr marL="0" lvl="0" indent="0" algn="l">
              <a:lnSpc>
                <a:spcPts val="5775"/>
              </a:lnSpc>
            </a:pPr>
            <a:r>
              <a:rPr lang="en-US" sz="5500" b="1">
                <a:solidFill>
                  <a:srgbClr val="FFFFFF"/>
                </a:solidFill>
                <a:latin typeface="Poppins Bold"/>
                <a:ea typeface="Poppins Bold"/>
                <a:cs typeface="Poppins Bold"/>
                <a:sym typeface="Poppins Bold"/>
              </a:rPr>
              <a:t>Recommendations: Training Over Hiring</a:t>
            </a:r>
          </a:p>
        </p:txBody>
      </p:sp>
      <p:sp>
        <p:nvSpPr>
          <p:cNvPr id="3" name="TextBox 3"/>
          <p:cNvSpPr txBox="1"/>
          <p:nvPr/>
        </p:nvSpPr>
        <p:spPr>
          <a:xfrm>
            <a:off x="2210699" y="4719291"/>
            <a:ext cx="13866603" cy="3887539"/>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FFFFFF"/>
                </a:solidFill>
                <a:latin typeface="Inter 1" panose="020B0604020202020204" charset="0"/>
                <a:ea typeface="Inter 1" panose="020B0604020202020204" charset="0"/>
                <a:cs typeface="Inter 2"/>
                <a:sym typeface="Inter 2"/>
              </a:rPr>
              <a:t>Where to Invest: Train our current team first, then fix only Hardware and System tools.</a:t>
            </a:r>
          </a:p>
          <a:p>
            <a:pPr algn="l">
              <a:lnSpc>
                <a:spcPts val="3359"/>
              </a:lnSpc>
            </a:pPr>
            <a:endParaRPr lang="en-US" sz="2400" dirty="0">
              <a:solidFill>
                <a:srgbClr val="FFFFFF"/>
              </a:solidFill>
              <a:latin typeface="Inter 1" panose="020B0604020202020204" charset="0"/>
              <a:ea typeface="Inter 1" panose="020B0604020202020204" charset="0"/>
              <a:cs typeface="Inter 2"/>
              <a:sym typeface="Inter 2"/>
            </a:endParaRPr>
          </a:p>
          <a:p>
            <a:pPr marL="518160" lvl="1" indent="-259080" algn="l">
              <a:lnSpc>
                <a:spcPts val="3359"/>
              </a:lnSpc>
              <a:buFont typeface="Arial"/>
              <a:buChar char="•"/>
            </a:pPr>
            <a:r>
              <a:rPr lang="en-US" sz="2400" dirty="0">
                <a:solidFill>
                  <a:srgbClr val="FFFFFF"/>
                </a:solidFill>
                <a:latin typeface="Inter 1" panose="020B0604020202020204" charset="0"/>
                <a:ea typeface="Inter 1" panose="020B0604020202020204" charset="0"/>
                <a:cs typeface="Inter 2"/>
                <a:sym typeface="Inter 2"/>
              </a:rPr>
              <a:t>Why: 20 of 50 agents are low performers. Tickets grew 123% but resolution time stayed flat (4.55 to 4.56). New tools gave no speed gain (4.55 → 4.56 days).</a:t>
            </a:r>
          </a:p>
          <a:p>
            <a:pPr algn="l">
              <a:lnSpc>
                <a:spcPts val="3359"/>
              </a:lnSpc>
            </a:pPr>
            <a:endParaRPr lang="en-US" sz="2400" dirty="0">
              <a:solidFill>
                <a:srgbClr val="FFFFFF"/>
              </a:solidFill>
              <a:latin typeface="Inter 1" panose="020B0604020202020204" charset="0"/>
              <a:ea typeface="Inter 1" panose="020B0604020202020204" charset="0"/>
              <a:cs typeface="Inter 2"/>
              <a:sym typeface="Inter 2"/>
            </a:endParaRPr>
          </a:p>
          <a:p>
            <a:pPr marL="518160" lvl="1" indent="-259080" algn="l">
              <a:lnSpc>
                <a:spcPts val="3359"/>
              </a:lnSpc>
              <a:buFont typeface="Arial"/>
              <a:buChar char="•"/>
            </a:pPr>
            <a:r>
              <a:rPr lang="en-US" sz="2400" dirty="0">
                <a:solidFill>
                  <a:srgbClr val="FFFFFF"/>
                </a:solidFill>
                <a:latin typeface="Inter 1" panose="020B0604020202020204" charset="0"/>
                <a:ea typeface="Inter 1" panose="020B0604020202020204" charset="0"/>
                <a:cs typeface="Inter 2"/>
                <a:sym typeface="Inter 2"/>
              </a:rPr>
              <a:t>Target: Resolution time below 4.5 days, satisfaction above 4.15 (now 4.10).</a:t>
            </a:r>
          </a:p>
          <a:p>
            <a:pPr algn="l">
              <a:lnSpc>
                <a:spcPts val="3359"/>
              </a:lnSpc>
            </a:pPr>
            <a:endParaRPr lang="en-US" sz="2400" dirty="0">
              <a:solidFill>
                <a:srgbClr val="FFFFFF"/>
              </a:solidFill>
              <a:latin typeface="Inter 1" panose="020B0604020202020204" charset="0"/>
              <a:ea typeface="Inter 1" panose="020B0604020202020204" charset="0"/>
              <a:cs typeface="Inter 2"/>
              <a:sym typeface="Inter 2"/>
            </a:endParaRPr>
          </a:p>
          <a:p>
            <a:pPr marL="518160" lvl="1" indent="-259080" algn="l">
              <a:lnSpc>
                <a:spcPts val="3359"/>
              </a:lnSpc>
              <a:buFont typeface="Arial"/>
              <a:buChar char="•"/>
            </a:pPr>
            <a:r>
              <a:rPr lang="en-US" sz="2400" dirty="0">
                <a:solidFill>
                  <a:srgbClr val="FFFFFF"/>
                </a:solidFill>
                <a:latin typeface="Inter 1" panose="020B0604020202020204" charset="0"/>
                <a:ea typeface="Inter 1" panose="020B0604020202020204" charset="0"/>
                <a:cs typeface="Inter 2"/>
                <a:sym typeface="Inter 2"/>
              </a:rPr>
              <a:t>Key Insight: Fast work does not always mean good work. Training our own staff is the cheapest way to improve quality.</a:t>
            </a:r>
          </a:p>
        </p:txBody>
      </p:sp>
      <p:sp>
        <p:nvSpPr>
          <p:cNvPr id="4" name="AutoShape 4"/>
          <p:cNvSpPr/>
          <p:nvPr/>
        </p:nvSpPr>
        <p:spPr>
          <a:xfrm>
            <a:off x="2210699" y="4069111"/>
            <a:ext cx="13844095" cy="0"/>
          </a:xfrm>
          <a:prstGeom prst="line">
            <a:avLst/>
          </a:prstGeom>
          <a:ln w="38100" cap="flat">
            <a:solidFill>
              <a:srgbClr val="FFFFFF"/>
            </a:solidFill>
            <a:prstDash val="solid"/>
            <a:headEnd type="none" w="sm" len="sm"/>
            <a:tailEnd type="none" w="sm" len="sm"/>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3" name="TextBox 3"/>
          <p:cNvSpPr txBox="1"/>
          <p:nvPr/>
        </p:nvSpPr>
        <p:spPr>
          <a:xfrm>
            <a:off x="375012" y="114300"/>
            <a:ext cx="9454787" cy="938077"/>
          </a:xfrm>
          <a:prstGeom prst="rect">
            <a:avLst/>
          </a:prstGeom>
        </p:spPr>
        <p:txBody>
          <a:bodyPr wrap="square" lIns="0" tIns="0" rIns="0" bIns="0" rtlCol="0" anchor="t">
            <a:spAutoFit/>
          </a:bodyPr>
          <a:lstStyle/>
          <a:p>
            <a:pPr algn="ctr">
              <a:lnSpc>
                <a:spcPts val="7700"/>
              </a:lnSpc>
              <a:spcBef>
                <a:spcPct val="0"/>
              </a:spcBef>
            </a:pPr>
            <a:r>
              <a:rPr lang="en-US" sz="5500" b="1" dirty="0">
                <a:solidFill>
                  <a:srgbClr val="FFFFFF"/>
                </a:solidFill>
                <a:latin typeface="Poppins Bold"/>
                <a:ea typeface="Poppins Bold"/>
                <a:cs typeface="Poppins Bold"/>
                <a:sym typeface="Poppins Bold"/>
              </a:rPr>
              <a:t>Dashboard</a:t>
            </a:r>
          </a:p>
        </p:txBody>
      </p:sp>
      <p:pic>
        <p:nvPicPr>
          <p:cNvPr id="4" name="Picture 3">
            <a:extLst>
              <a:ext uri="{FF2B5EF4-FFF2-40B4-BE49-F238E27FC236}">
                <a16:creationId xmlns:a16="http://schemas.microsoft.com/office/drawing/2014/main" id="{6240157B-B792-23C7-EBE3-BB26DC16E7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803" y="1571126"/>
            <a:ext cx="17690394" cy="714474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rot="3099748">
            <a:off x="429499" y="7767693"/>
            <a:ext cx="3250045" cy="1032286"/>
            <a:chOff x="0" y="0"/>
            <a:chExt cx="1249914" cy="397000"/>
          </a:xfrm>
        </p:grpSpPr>
        <p:sp>
          <p:nvSpPr>
            <p:cNvPr id="3" name="Freeform 3"/>
            <p:cNvSpPr/>
            <p:nvPr/>
          </p:nvSpPr>
          <p:spPr>
            <a:xfrm>
              <a:off x="0" y="0"/>
              <a:ext cx="1249914" cy="397000"/>
            </a:xfrm>
            <a:custGeom>
              <a:avLst/>
              <a:gdLst/>
              <a:ahLst/>
              <a:cxnLst/>
              <a:rect l="l" t="t" r="r" b="b"/>
              <a:pathLst>
                <a:path w="1249914" h="397000">
                  <a:moveTo>
                    <a:pt x="1046714" y="0"/>
                  </a:moveTo>
                  <a:cubicBezTo>
                    <a:pt x="1158938" y="0"/>
                    <a:pt x="1249914" y="88872"/>
                    <a:pt x="1249914" y="198500"/>
                  </a:cubicBezTo>
                  <a:cubicBezTo>
                    <a:pt x="1249914" y="308129"/>
                    <a:pt x="1158938" y="397000"/>
                    <a:pt x="1046714" y="397000"/>
                  </a:cubicBezTo>
                  <a:lnTo>
                    <a:pt x="203200" y="397000"/>
                  </a:lnTo>
                  <a:cubicBezTo>
                    <a:pt x="90976" y="397000"/>
                    <a:pt x="0" y="308129"/>
                    <a:pt x="0" y="198500"/>
                  </a:cubicBezTo>
                  <a:cubicBezTo>
                    <a:pt x="0" y="88872"/>
                    <a:pt x="90976" y="0"/>
                    <a:pt x="203200" y="0"/>
                  </a:cubicBezTo>
                  <a:close/>
                </a:path>
              </a:pathLst>
            </a:custGeom>
            <a:gradFill rotWithShape="1">
              <a:gsLst>
                <a:gs pos="0">
                  <a:srgbClr val="06B6D4">
                    <a:alpha val="100000"/>
                  </a:srgbClr>
                </a:gs>
                <a:gs pos="100000">
                  <a:srgbClr val="F8FAFC">
                    <a:alpha val="0"/>
                  </a:srgbClr>
                </a:gs>
              </a:gsLst>
              <a:lin ang="0"/>
            </a:gradFill>
          </p:spPr>
        </p:sp>
        <p:sp>
          <p:nvSpPr>
            <p:cNvPr id="4" name="TextBox 4"/>
            <p:cNvSpPr txBox="1"/>
            <p:nvPr/>
          </p:nvSpPr>
          <p:spPr>
            <a:xfrm>
              <a:off x="0" y="-57150"/>
              <a:ext cx="1249914" cy="454150"/>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5881913" y="2687080"/>
            <a:ext cx="4328887" cy="938077"/>
          </a:xfrm>
          <a:prstGeom prst="rect">
            <a:avLst/>
          </a:prstGeom>
        </p:spPr>
        <p:txBody>
          <a:bodyPr wrap="square" lIns="0" tIns="0" rIns="0" bIns="0" rtlCol="0" anchor="t">
            <a:spAutoFit/>
          </a:bodyPr>
          <a:lstStyle/>
          <a:p>
            <a:pPr algn="ctr">
              <a:lnSpc>
                <a:spcPts val="7700"/>
              </a:lnSpc>
              <a:spcBef>
                <a:spcPct val="0"/>
              </a:spcBef>
            </a:pPr>
            <a:r>
              <a:rPr lang="en-US" sz="5500" b="1" dirty="0">
                <a:solidFill>
                  <a:srgbClr val="FFFFFF"/>
                </a:solidFill>
                <a:latin typeface="Poppins Bold"/>
                <a:ea typeface="Poppins Bold"/>
                <a:cs typeface="Poppins Bold"/>
                <a:sym typeface="Poppins Bold"/>
              </a:rPr>
              <a:t>Conclusion</a:t>
            </a:r>
          </a:p>
        </p:txBody>
      </p:sp>
      <p:sp>
        <p:nvSpPr>
          <p:cNvPr id="6" name="TextBox 6"/>
          <p:cNvSpPr txBox="1"/>
          <p:nvPr/>
        </p:nvSpPr>
        <p:spPr>
          <a:xfrm>
            <a:off x="5302954" y="4020504"/>
            <a:ext cx="9275429" cy="2501398"/>
          </a:xfrm>
          <a:prstGeom prst="rect">
            <a:avLst/>
          </a:prstGeom>
        </p:spPr>
        <p:txBody>
          <a:bodyPr lIns="0" tIns="0" rIns="0" bIns="0" rtlCol="0" anchor="t">
            <a:spAutoFit/>
          </a:bodyPr>
          <a:lstStyle/>
          <a:p>
            <a:pPr algn="ctr">
              <a:lnSpc>
                <a:spcPts val="3359"/>
              </a:lnSpc>
              <a:spcBef>
                <a:spcPct val="0"/>
              </a:spcBef>
            </a:pPr>
            <a:r>
              <a:rPr lang="en-US" sz="2400" dirty="0">
                <a:solidFill>
                  <a:srgbClr val="FFFFFF"/>
                </a:solidFill>
                <a:latin typeface="Inter 1"/>
                <a:ea typeface="Inter 1"/>
                <a:cs typeface="Inter 1"/>
                <a:sym typeface="Inter 1"/>
              </a:rPr>
              <a:t>Our IT team successfully managed a massive load of 97,498 tickets over 5 years. The data clearly shows that we do not need to spend extra money on new hiring because most of our 50 agents are already doing a good job. The easy and best way to speed up our helpdesk is simply giving training to our slow agents and focusing more on Hardware and System issues.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2"/>
          <p:cNvSpPr txBox="1"/>
          <p:nvPr/>
        </p:nvSpPr>
        <p:spPr>
          <a:xfrm>
            <a:off x="755703" y="4317891"/>
            <a:ext cx="8041263" cy="2501398"/>
          </a:xfrm>
          <a:prstGeom prst="rect">
            <a:avLst/>
          </a:prstGeom>
        </p:spPr>
        <p:txBody>
          <a:bodyPr lIns="0" tIns="0" rIns="0" bIns="0" rtlCol="0" anchor="t">
            <a:spAutoFit/>
          </a:bodyPr>
          <a:lstStyle/>
          <a:p>
            <a:pPr algn="ctr">
              <a:lnSpc>
                <a:spcPts val="3360"/>
              </a:lnSpc>
              <a:spcBef>
                <a:spcPct val="0"/>
              </a:spcBef>
            </a:pPr>
            <a:r>
              <a:rPr lang="en-US" sz="2400" dirty="0">
                <a:solidFill>
                  <a:srgbClr val="FFFFFF"/>
                </a:solidFill>
                <a:latin typeface="Inter 1"/>
                <a:ea typeface="Inter 1"/>
                <a:cs typeface="Inter 1"/>
                <a:sym typeface="Inter 1"/>
              </a:rPr>
              <a:t>I would like to express my sincere gratitude to my mentors and evaluators at Newton School for providing the structured guidelines and datasets for this Spreadsheet project. Their continuous guidance helped me successfully build the analytical framework and dashboard for this IT ticket analysis.</a:t>
            </a:r>
          </a:p>
        </p:txBody>
      </p:sp>
      <p:sp>
        <p:nvSpPr>
          <p:cNvPr id="3" name="TextBox 3"/>
          <p:cNvSpPr txBox="1"/>
          <p:nvPr/>
        </p:nvSpPr>
        <p:spPr>
          <a:xfrm>
            <a:off x="688438" y="3238500"/>
            <a:ext cx="8108528" cy="938014"/>
          </a:xfrm>
          <a:prstGeom prst="rect">
            <a:avLst/>
          </a:prstGeom>
        </p:spPr>
        <p:txBody>
          <a:bodyPr wrap="square" lIns="0" tIns="0" rIns="0" bIns="0" rtlCol="0" anchor="t">
            <a:spAutoFit/>
          </a:bodyPr>
          <a:lstStyle/>
          <a:p>
            <a:pPr algn="ctr">
              <a:lnSpc>
                <a:spcPts val="7699"/>
              </a:lnSpc>
              <a:spcBef>
                <a:spcPct val="0"/>
              </a:spcBef>
            </a:pPr>
            <a:r>
              <a:rPr lang="en-US" sz="5499" b="1" dirty="0">
                <a:solidFill>
                  <a:srgbClr val="FFFFFF"/>
                </a:solidFill>
                <a:latin typeface="Poppins Bold"/>
                <a:ea typeface="Poppins Bold"/>
                <a:cs typeface="Poppins Bold"/>
                <a:sym typeface="Poppins Bold"/>
              </a:rPr>
              <a:t>Acknowledgements</a:t>
            </a:r>
          </a:p>
        </p:txBody>
      </p:sp>
      <p:sp>
        <p:nvSpPr>
          <p:cNvPr id="4" name="AutoShape 4"/>
          <p:cNvSpPr/>
          <p:nvPr/>
        </p:nvSpPr>
        <p:spPr>
          <a:xfrm>
            <a:off x="9163050" y="-57602"/>
            <a:ext cx="0" cy="10402203"/>
          </a:xfrm>
          <a:prstGeom prst="line">
            <a:avLst/>
          </a:prstGeom>
          <a:ln w="38100" cap="flat">
            <a:solidFill>
              <a:srgbClr val="FFFFFF"/>
            </a:solidFill>
            <a:prstDash val="solid"/>
            <a:headEnd type="none" w="sm" len="sm"/>
            <a:tailEnd type="none" w="sm" len="sm"/>
          </a:ln>
        </p:spPr>
      </p:sp>
      <p:sp>
        <p:nvSpPr>
          <p:cNvPr id="5" name="TextBox 5"/>
          <p:cNvSpPr txBox="1"/>
          <p:nvPr/>
        </p:nvSpPr>
        <p:spPr>
          <a:xfrm>
            <a:off x="9753602" y="2400300"/>
            <a:ext cx="8213396" cy="2144690"/>
          </a:xfrm>
          <a:prstGeom prst="rect">
            <a:avLst/>
          </a:prstGeom>
        </p:spPr>
        <p:txBody>
          <a:bodyPr wrap="square" lIns="0" tIns="0" rIns="0" bIns="0" rtlCol="0" anchor="t">
            <a:spAutoFit/>
          </a:bodyPr>
          <a:lstStyle/>
          <a:p>
            <a:pPr algn="ctr">
              <a:lnSpc>
                <a:spcPts val="3359"/>
              </a:lnSpc>
              <a:spcBef>
                <a:spcPct val="0"/>
              </a:spcBef>
            </a:pPr>
            <a:endParaRPr lang="en-US" sz="2400" dirty="0">
              <a:solidFill>
                <a:srgbClr val="000000"/>
              </a:solidFill>
              <a:latin typeface="Inter 1"/>
              <a:ea typeface="Inter 1"/>
              <a:cs typeface="Inter 1"/>
              <a:sym typeface="Inter 1"/>
            </a:endParaRPr>
          </a:p>
          <a:p>
            <a:pPr algn="ctr">
              <a:lnSpc>
                <a:spcPts val="3359"/>
              </a:lnSpc>
              <a:spcBef>
                <a:spcPct val="0"/>
              </a:spcBef>
            </a:pPr>
            <a:r>
              <a:rPr lang="en-US" sz="2400" dirty="0">
                <a:solidFill>
                  <a:srgbClr val="FFFFFF"/>
                </a:solidFill>
                <a:latin typeface="Inter 1"/>
                <a:ea typeface="Inter 1"/>
                <a:cs typeface="Inter 1"/>
                <a:sym typeface="Inter 1"/>
              </a:rPr>
              <a:t>IT Ticket and IT Agents dataset (2016–2020)</a:t>
            </a:r>
          </a:p>
          <a:p>
            <a:pPr algn="ctr">
              <a:lnSpc>
                <a:spcPts val="3359"/>
              </a:lnSpc>
              <a:spcBef>
                <a:spcPct val="0"/>
              </a:spcBef>
            </a:pPr>
            <a:r>
              <a:rPr lang="en-US" sz="2400" dirty="0">
                <a:solidFill>
                  <a:srgbClr val="FFFFFF"/>
                </a:solidFill>
                <a:latin typeface="Inter 1"/>
                <a:ea typeface="Inter 1"/>
                <a:cs typeface="Inter 1"/>
                <a:sym typeface="Inter 1"/>
              </a:rPr>
              <a:t>Microsoft Excel — Pivot Tables, XLOOKUP, CORREL, DATEDIF functions</a:t>
            </a:r>
          </a:p>
          <a:p>
            <a:pPr algn="ctr">
              <a:lnSpc>
                <a:spcPts val="3359"/>
              </a:lnSpc>
              <a:spcBef>
                <a:spcPct val="0"/>
              </a:spcBef>
            </a:pPr>
            <a:endParaRPr lang="en-US" sz="2400" dirty="0">
              <a:solidFill>
                <a:srgbClr val="FFFFFF"/>
              </a:solidFill>
              <a:latin typeface="Inter 1"/>
              <a:ea typeface="Inter 1"/>
              <a:cs typeface="Inter 1"/>
              <a:sym typeface="Inter 1"/>
            </a:endParaRPr>
          </a:p>
        </p:txBody>
      </p:sp>
      <p:sp>
        <p:nvSpPr>
          <p:cNvPr id="6" name="TextBox 6"/>
          <p:cNvSpPr txBox="1"/>
          <p:nvPr/>
        </p:nvSpPr>
        <p:spPr>
          <a:xfrm>
            <a:off x="11307603" y="1790700"/>
            <a:ext cx="5105394" cy="938077"/>
          </a:xfrm>
          <a:prstGeom prst="rect">
            <a:avLst/>
          </a:prstGeom>
        </p:spPr>
        <p:txBody>
          <a:bodyPr wrap="square" lIns="0" tIns="0" rIns="0" bIns="0" rtlCol="0" anchor="t">
            <a:spAutoFit/>
          </a:bodyPr>
          <a:lstStyle/>
          <a:p>
            <a:pPr algn="ctr">
              <a:lnSpc>
                <a:spcPts val="7700"/>
              </a:lnSpc>
              <a:spcBef>
                <a:spcPct val="0"/>
              </a:spcBef>
            </a:pPr>
            <a:r>
              <a:rPr lang="en-US" sz="5500" b="1" dirty="0">
                <a:solidFill>
                  <a:srgbClr val="FFFFFF"/>
                </a:solidFill>
                <a:latin typeface="Poppins Bold"/>
                <a:ea typeface="Poppins Bold"/>
                <a:cs typeface="Poppins Bold"/>
                <a:sym typeface="Poppins Bold"/>
              </a:rPr>
              <a:t>References</a:t>
            </a:r>
          </a:p>
        </p:txBody>
      </p:sp>
      <p:sp>
        <p:nvSpPr>
          <p:cNvPr id="13" name="Freeform 8">
            <a:extLst>
              <a:ext uri="{FF2B5EF4-FFF2-40B4-BE49-F238E27FC236}">
                <a16:creationId xmlns:a16="http://schemas.microsoft.com/office/drawing/2014/main" id="{FB3E7B49-AF6B-DD60-FA55-64C6703F1B08}"/>
              </a:ext>
            </a:extLst>
          </p:cNvPr>
          <p:cNvSpPr/>
          <p:nvPr/>
        </p:nvSpPr>
        <p:spPr>
          <a:xfrm>
            <a:off x="12540639" y="5860678"/>
            <a:ext cx="2315132" cy="931289"/>
          </a:xfrm>
          <a:custGeom>
            <a:avLst/>
            <a:gdLst/>
            <a:ahLst/>
            <a:cxnLst/>
            <a:rect l="l" t="t" r="r" b="b"/>
            <a:pathLst>
              <a:path w="1010287" h="406400">
                <a:moveTo>
                  <a:pt x="807087" y="0"/>
                </a:moveTo>
                <a:cubicBezTo>
                  <a:pt x="919312" y="0"/>
                  <a:pt x="1010287" y="90976"/>
                  <a:pt x="1010287" y="203200"/>
                </a:cubicBezTo>
                <a:cubicBezTo>
                  <a:pt x="1010287" y="315424"/>
                  <a:pt x="919312" y="406400"/>
                  <a:pt x="807087"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grpSp>
        <p:nvGrpSpPr>
          <p:cNvPr id="2" name="Group 2"/>
          <p:cNvGrpSpPr/>
          <p:nvPr/>
        </p:nvGrpSpPr>
        <p:grpSpPr>
          <a:xfrm>
            <a:off x="10096029" y="4391422"/>
            <a:ext cx="2776691" cy="1116957"/>
            <a:chOff x="0" y="0"/>
            <a:chExt cx="1010287" cy="406400"/>
          </a:xfrm>
        </p:grpSpPr>
        <p:sp>
          <p:nvSpPr>
            <p:cNvPr id="3" name="Freeform 3"/>
            <p:cNvSpPr/>
            <p:nvPr/>
          </p:nvSpPr>
          <p:spPr>
            <a:xfrm>
              <a:off x="0" y="0"/>
              <a:ext cx="1010287" cy="406400"/>
            </a:xfrm>
            <a:custGeom>
              <a:avLst/>
              <a:gdLst/>
              <a:ahLst/>
              <a:cxnLst/>
              <a:rect l="l" t="t" r="r" b="b"/>
              <a:pathLst>
                <a:path w="1010287" h="406400">
                  <a:moveTo>
                    <a:pt x="807087" y="0"/>
                  </a:moveTo>
                  <a:cubicBezTo>
                    <a:pt x="919312" y="0"/>
                    <a:pt x="1010287" y="90976"/>
                    <a:pt x="1010287" y="203200"/>
                  </a:cubicBezTo>
                  <a:cubicBezTo>
                    <a:pt x="1010287" y="315424"/>
                    <a:pt x="919312" y="406400"/>
                    <a:pt x="807087"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4" name="TextBox 4"/>
            <p:cNvSpPr txBox="1"/>
            <p:nvPr/>
          </p:nvSpPr>
          <p:spPr>
            <a:xfrm>
              <a:off x="0" y="-57150"/>
              <a:ext cx="1010287" cy="4635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2451057" y="6896155"/>
            <a:ext cx="3081111" cy="1116957"/>
            <a:chOff x="0" y="0"/>
            <a:chExt cx="1121049" cy="406400"/>
          </a:xfrm>
        </p:grpSpPr>
        <p:sp>
          <p:nvSpPr>
            <p:cNvPr id="6" name="Freeform 6"/>
            <p:cNvSpPr/>
            <p:nvPr/>
          </p:nvSpPr>
          <p:spPr>
            <a:xfrm>
              <a:off x="0" y="0"/>
              <a:ext cx="1121049" cy="406400"/>
            </a:xfrm>
            <a:custGeom>
              <a:avLst/>
              <a:gdLst/>
              <a:ahLst/>
              <a:cxnLst/>
              <a:rect l="l" t="t" r="r" b="b"/>
              <a:pathLst>
                <a:path w="1121049" h="406400">
                  <a:moveTo>
                    <a:pt x="917849" y="0"/>
                  </a:moveTo>
                  <a:cubicBezTo>
                    <a:pt x="1030074" y="0"/>
                    <a:pt x="1121049" y="90976"/>
                    <a:pt x="1121049" y="203200"/>
                  </a:cubicBezTo>
                  <a:cubicBezTo>
                    <a:pt x="1121049" y="315424"/>
                    <a:pt x="1030074" y="406400"/>
                    <a:pt x="917849" y="406400"/>
                  </a:cubicBezTo>
                  <a:lnTo>
                    <a:pt x="203200" y="406400"/>
                  </a:lnTo>
                  <a:cubicBezTo>
                    <a:pt x="90976" y="406400"/>
                    <a:pt x="0" y="315424"/>
                    <a:pt x="0" y="203200"/>
                  </a:cubicBezTo>
                  <a:cubicBezTo>
                    <a:pt x="0" y="90976"/>
                    <a:pt x="90976" y="0"/>
                    <a:pt x="203200" y="0"/>
                  </a:cubicBezTo>
                  <a:close/>
                </a:path>
              </a:pathLst>
            </a:custGeom>
            <a:gradFill rotWithShape="1">
              <a:gsLst>
                <a:gs pos="0">
                  <a:srgbClr val="FBBF24">
                    <a:alpha val="100000"/>
                  </a:srgbClr>
                </a:gs>
                <a:gs pos="100000">
                  <a:srgbClr val="F8FAFC">
                    <a:alpha val="0"/>
                  </a:srgbClr>
                </a:gs>
              </a:gsLst>
              <a:lin ang="0"/>
            </a:gradFill>
          </p:spPr>
        </p:sp>
        <p:sp>
          <p:nvSpPr>
            <p:cNvPr id="7" name="TextBox 7"/>
            <p:cNvSpPr txBox="1"/>
            <p:nvPr/>
          </p:nvSpPr>
          <p:spPr>
            <a:xfrm>
              <a:off x="0" y="-57150"/>
              <a:ext cx="1121049" cy="46355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0096029" y="8893421"/>
            <a:ext cx="2776691" cy="1116957"/>
            <a:chOff x="0" y="0"/>
            <a:chExt cx="1010287" cy="406400"/>
          </a:xfrm>
        </p:grpSpPr>
        <p:sp>
          <p:nvSpPr>
            <p:cNvPr id="9" name="Freeform 9"/>
            <p:cNvSpPr/>
            <p:nvPr/>
          </p:nvSpPr>
          <p:spPr>
            <a:xfrm>
              <a:off x="0" y="0"/>
              <a:ext cx="1010287" cy="406400"/>
            </a:xfrm>
            <a:custGeom>
              <a:avLst/>
              <a:gdLst/>
              <a:ahLst/>
              <a:cxnLst/>
              <a:rect l="l" t="t" r="r" b="b"/>
              <a:pathLst>
                <a:path w="1010287" h="406400">
                  <a:moveTo>
                    <a:pt x="807087" y="0"/>
                  </a:moveTo>
                  <a:cubicBezTo>
                    <a:pt x="919312" y="0"/>
                    <a:pt x="1010287" y="90976"/>
                    <a:pt x="1010287" y="203200"/>
                  </a:cubicBezTo>
                  <a:cubicBezTo>
                    <a:pt x="1010287" y="315424"/>
                    <a:pt x="919312" y="406400"/>
                    <a:pt x="807087"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10" name="TextBox 10"/>
            <p:cNvSpPr txBox="1"/>
            <p:nvPr/>
          </p:nvSpPr>
          <p:spPr>
            <a:xfrm>
              <a:off x="0" y="-57150"/>
              <a:ext cx="1010287" cy="46355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4391667" y="6896155"/>
            <a:ext cx="2969957" cy="1116957"/>
            <a:chOff x="0" y="0"/>
            <a:chExt cx="1080607" cy="406400"/>
          </a:xfrm>
        </p:grpSpPr>
        <p:sp>
          <p:nvSpPr>
            <p:cNvPr id="12" name="Freeform 12"/>
            <p:cNvSpPr/>
            <p:nvPr/>
          </p:nvSpPr>
          <p:spPr>
            <a:xfrm>
              <a:off x="0" y="0"/>
              <a:ext cx="1080607" cy="406400"/>
            </a:xfrm>
            <a:custGeom>
              <a:avLst/>
              <a:gdLst/>
              <a:ahLst/>
              <a:cxnLst/>
              <a:rect l="l" t="t" r="r" b="b"/>
              <a:pathLst>
                <a:path w="1080607" h="406400">
                  <a:moveTo>
                    <a:pt x="877407" y="0"/>
                  </a:moveTo>
                  <a:cubicBezTo>
                    <a:pt x="989631" y="0"/>
                    <a:pt x="1080607" y="90976"/>
                    <a:pt x="1080607" y="203200"/>
                  </a:cubicBezTo>
                  <a:cubicBezTo>
                    <a:pt x="1080607" y="315424"/>
                    <a:pt x="989631" y="406400"/>
                    <a:pt x="877407" y="406400"/>
                  </a:cubicBezTo>
                  <a:lnTo>
                    <a:pt x="203200" y="406400"/>
                  </a:lnTo>
                  <a:cubicBezTo>
                    <a:pt x="90976" y="406400"/>
                    <a:pt x="0" y="315424"/>
                    <a:pt x="0" y="203200"/>
                  </a:cubicBezTo>
                  <a:cubicBezTo>
                    <a:pt x="0" y="90976"/>
                    <a:pt x="90976" y="0"/>
                    <a:pt x="203200" y="0"/>
                  </a:cubicBezTo>
                  <a:close/>
                </a:path>
              </a:pathLst>
            </a:custGeom>
            <a:gradFill rotWithShape="1">
              <a:gsLst>
                <a:gs pos="0">
                  <a:srgbClr val="FBBF24">
                    <a:alpha val="100000"/>
                  </a:srgbClr>
                </a:gs>
                <a:gs pos="100000">
                  <a:srgbClr val="F8FAFC">
                    <a:alpha val="0"/>
                  </a:srgbClr>
                </a:gs>
              </a:gsLst>
              <a:lin ang="0"/>
            </a:gradFill>
          </p:spPr>
        </p:sp>
        <p:sp>
          <p:nvSpPr>
            <p:cNvPr id="13" name="TextBox 13"/>
            <p:cNvSpPr txBox="1"/>
            <p:nvPr/>
          </p:nvSpPr>
          <p:spPr>
            <a:xfrm>
              <a:off x="0" y="-57150"/>
              <a:ext cx="1080607" cy="463550"/>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12036639" y="8893421"/>
            <a:ext cx="2997746" cy="1116957"/>
            <a:chOff x="0" y="0"/>
            <a:chExt cx="1090717" cy="406400"/>
          </a:xfrm>
        </p:grpSpPr>
        <p:sp>
          <p:nvSpPr>
            <p:cNvPr id="15" name="Freeform 15"/>
            <p:cNvSpPr/>
            <p:nvPr/>
          </p:nvSpPr>
          <p:spPr>
            <a:xfrm>
              <a:off x="0" y="0"/>
              <a:ext cx="1090717" cy="406400"/>
            </a:xfrm>
            <a:custGeom>
              <a:avLst/>
              <a:gdLst/>
              <a:ahLst/>
              <a:cxnLst/>
              <a:rect l="l" t="t" r="r" b="b"/>
              <a:pathLst>
                <a:path w="1090717" h="406400">
                  <a:moveTo>
                    <a:pt x="887517" y="0"/>
                  </a:moveTo>
                  <a:cubicBezTo>
                    <a:pt x="999742" y="0"/>
                    <a:pt x="1090717" y="90976"/>
                    <a:pt x="1090717" y="203200"/>
                  </a:cubicBezTo>
                  <a:cubicBezTo>
                    <a:pt x="1090717" y="315424"/>
                    <a:pt x="999742" y="406400"/>
                    <a:pt x="887517"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16" name="TextBox 16"/>
            <p:cNvSpPr txBox="1"/>
            <p:nvPr/>
          </p:nvSpPr>
          <p:spPr>
            <a:xfrm>
              <a:off x="0" y="-57150"/>
              <a:ext cx="1090717" cy="46355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rot="-10800000">
            <a:off x="11866762" y="4391422"/>
            <a:ext cx="2776536" cy="1116957"/>
            <a:chOff x="0" y="0"/>
            <a:chExt cx="1010231" cy="406400"/>
          </a:xfrm>
        </p:grpSpPr>
        <p:sp>
          <p:nvSpPr>
            <p:cNvPr id="18" name="Freeform 18"/>
            <p:cNvSpPr/>
            <p:nvPr/>
          </p:nvSpPr>
          <p:spPr>
            <a:xfrm>
              <a:off x="0" y="0"/>
              <a:ext cx="1010231" cy="406400"/>
            </a:xfrm>
            <a:custGeom>
              <a:avLst/>
              <a:gdLst/>
              <a:ahLst/>
              <a:cxnLst/>
              <a:rect l="l" t="t" r="r" b="b"/>
              <a:pathLst>
                <a:path w="1010231" h="406400">
                  <a:moveTo>
                    <a:pt x="807031" y="0"/>
                  </a:moveTo>
                  <a:cubicBezTo>
                    <a:pt x="919255" y="0"/>
                    <a:pt x="1010231" y="90976"/>
                    <a:pt x="1010231" y="203200"/>
                  </a:cubicBezTo>
                  <a:cubicBezTo>
                    <a:pt x="1010231" y="315424"/>
                    <a:pt x="919255" y="406400"/>
                    <a:pt x="807031"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19" name="TextBox 19"/>
            <p:cNvSpPr txBox="1"/>
            <p:nvPr/>
          </p:nvSpPr>
          <p:spPr>
            <a:xfrm>
              <a:off x="0" y="-57150"/>
              <a:ext cx="1010231" cy="46355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rot="-10800000">
            <a:off x="10571220" y="2272005"/>
            <a:ext cx="2928275" cy="1116957"/>
            <a:chOff x="0" y="0"/>
            <a:chExt cx="1065441" cy="406400"/>
          </a:xfrm>
        </p:grpSpPr>
        <p:sp>
          <p:nvSpPr>
            <p:cNvPr id="21" name="Freeform 21"/>
            <p:cNvSpPr/>
            <p:nvPr/>
          </p:nvSpPr>
          <p:spPr>
            <a:xfrm>
              <a:off x="0" y="0"/>
              <a:ext cx="1065440" cy="406400"/>
            </a:xfrm>
            <a:custGeom>
              <a:avLst/>
              <a:gdLst/>
              <a:ahLst/>
              <a:cxnLst/>
              <a:rect l="l" t="t" r="r" b="b"/>
              <a:pathLst>
                <a:path w="1065440" h="406400">
                  <a:moveTo>
                    <a:pt x="862240" y="0"/>
                  </a:moveTo>
                  <a:cubicBezTo>
                    <a:pt x="974465" y="0"/>
                    <a:pt x="1065440" y="90976"/>
                    <a:pt x="1065440" y="203200"/>
                  </a:cubicBezTo>
                  <a:cubicBezTo>
                    <a:pt x="1065440" y="315424"/>
                    <a:pt x="974465" y="406400"/>
                    <a:pt x="862240" y="406400"/>
                  </a:cubicBezTo>
                  <a:lnTo>
                    <a:pt x="203200" y="406400"/>
                  </a:lnTo>
                  <a:cubicBezTo>
                    <a:pt x="90976" y="406400"/>
                    <a:pt x="0" y="315424"/>
                    <a:pt x="0" y="203200"/>
                  </a:cubicBezTo>
                  <a:cubicBezTo>
                    <a:pt x="0" y="90976"/>
                    <a:pt x="90976" y="0"/>
                    <a:pt x="203200" y="0"/>
                  </a:cubicBezTo>
                  <a:close/>
                </a:path>
              </a:pathLst>
            </a:custGeom>
            <a:gradFill rotWithShape="1">
              <a:gsLst>
                <a:gs pos="0">
                  <a:srgbClr val="FBBF24">
                    <a:alpha val="100000"/>
                  </a:srgbClr>
                </a:gs>
                <a:gs pos="100000">
                  <a:srgbClr val="F8FAFC">
                    <a:alpha val="0"/>
                  </a:srgbClr>
                </a:gs>
              </a:gsLst>
              <a:lin ang="0"/>
            </a:gradFill>
          </p:spPr>
        </p:sp>
        <p:sp>
          <p:nvSpPr>
            <p:cNvPr id="22" name="TextBox 22"/>
            <p:cNvSpPr txBox="1"/>
            <p:nvPr/>
          </p:nvSpPr>
          <p:spPr>
            <a:xfrm>
              <a:off x="0" y="-57150"/>
              <a:ext cx="1065441" cy="46355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rot="-10800000">
            <a:off x="12314164" y="276622"/>
            <a:ext cx="2956063" cy="1116957"/>
            <a:chOff x="0" y="0"/>
            <a:chExt cx="1075551" cy="406400"/>
          </a:xfrm>
        </p:grpSpPr>
        <p:sp>
          <p:nvSpPr>
            <p:cNvPr id="24" name="Freeform 24"/>
            <p:cNvSpPr/>
            <p:nvPr/>
          </p:nvSpPr>
          <p:spPr>
            <a:xfrm>
              <a:off x="0" y="0"/>
              <a:ext cx="1075551" cy="406400"/>
            </a:xfrm>
            <a:custGeom>
              <a:avLst/>
              <a:gdLst/>
              <a:ahLst/>
              <a:cxnLst/>
              <a:rect l="l" t="t" r="r" b="b"/>
              <a:pathLst>
                <a:path w="1075551" h="406400">
                  <a:moveTo>
                    <a:pt x="872351" y="0"/>
                  </a:moveTo>
                  <a:cubicBezTo>
                    <a:pt x="984575" y="0"/>
                    <a:pt x="1075551" y="90976"/>
                    <a:pt x="1075551" y="203200"/>
                  </a:cubicBezTo>
                  <a:cubicBezTo>
                    <a:pt x="1075551" y="315424"/>
                    <a:pt x="984575" y="406400"/>
                    <a:pt x="872351"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25" name="TextBox 25"/>
            <p:cNvSpPr txBox="1"/>
            <p:nvPr/>
          </p:nvSpPr>
          <p:spPr>
            <a:xfrm>
              <a:off x="0" y="-57150"/>
              <a:ext cx="1075551" cy="463550"/>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rot="-10800000">
            <a:off x="13792196" y="4391422"/>
            <a:ext cx="3138708" cy="1116957"/>
            <a:chOff x="0" y="0"/>
            <a:chExt cx="1142006" cy="406400"/>
          </a:xfrm>
        </p:grpSpPr>
        <p:sp>
          <p:nvSpPr>
            <p:cNvPr id="27" name="Freeform 27"/>
            <p:cNvSpPr/>
            <p:nvPr/>
          </p:nvSpPr>
          <p:spPr>
            <a:xfrm>
              <a:off x="0" y="0"/>
              <a:ext cx="1142006" cy="406400"/>
            </a:xfrm>
            <a:custGeom>
              <a:avLst/>
              <a:gdLst/>
              <a:ahLst/>
              <a:cxnLst/>
              <a:rect l="l" t="t" r="r" b="b"/>
              <a:pathLst>
                <a:path w="1142006" h="406400">
                  <a:moveTo>
                    <a:pt x="938806" y="0"/>
                  </a:moveTo>
                  <a:cubicBezTo>
                    <a:pt x="1051030" y="0"/>
                    <a:pt x="1142006" y="90976"/>
                    <a:pt x="1142006" y="203200"/>
                  </a:cubicBezTo>
                  <a:cubicBezTo>
                    <a:pt x="1142006" y="315424"/>
                    <a:pt x="1051030" y="406400"/>
                    <a:pt x="938806"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28" name="TextBox 28"/>
            <p:cNvSpPr txBox="1"/>
            <p:nvPr/>
          </p:nvSpPr>
          <p:spPr>
            <a:xfrm>
              <a:off x="0" y="-57150"/>
              <a:ext cx="1142006" cy="46355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rot="-10800000">
            <a:off x="12872720" y="2272005"/>
            <a:ext cx="2914381" cy="1116957"/>
            <a:chOff x="0" y="0"/>
            <a:chExt cx="1060385" cy="406400"/>
          </a:xfrm>
        </p:grpSpPr>
        <p:sp>
          <p:nvSpPr>
            <p:cNvPr id="30" name="Freeform 30"/>
            <p:cNvSpPr/>
            <p:nvPr/>
          </p:nvSpPr>
          <p:spPr>
            <a:xfrm>
              <a:off x="0" y="0"/>
              <a:ext cx="1060385" cy="406400"/>
            </a:xfrm>
            <a:custGeom>
              <a:avLst/>
              <a:gdLst/>
              <a:ahLst/>
              <a:cxnLst/>
              <a:rect l="l" t="t" r="r" b="b"/>
              <a:pathLst>
                <a:path w="1060385" h="406400">
                  <a:moveTo>
                    <a:pt x="857185" y="0"/>
                  </a:moveTo>
                  <a:cubicBezTo>
                    <a:pt x="969409" y="0"/>
                    <a:pt x="1060385" y="90976"/>
                    <a:pt x="1060385" y="203200"/>
                  </a:cubicBezTo>
                  <a:cubicBezTo>
                    <a:pt x="1060385" y="315424"/>
                    <a:pt x="969409" y="406400"/>
                    <a:pt x="857185" y="406400"/>
                  </a:cubicBezTo>
                  <a:lnTo>
                    <a:pt x="203200" y="406400"/>
                  </a:lnTo>
                  <a:cubicBezTo>
                    <a:pt x="90976" y="406400"/>
                    <a:pt x="0" y="315424"/>
                    <a:pt x="0" y="203200"/>
                  </a:cubicBezTo>
                  <a:cubicBezTo>
                    <a:pt x="0" y="90976"/>
                    <a:pt x="90976" y="0"/>
                    <a:pt x="203200" y="0"/>
                  </a:cubicBezTo>
                  <a:close/>
                </a:path>
              </a:pathLst>
            </a:custGeom>
            <a:gradFill rotWithShape="1">
              <a:gsLst>
                <a:gs pos="0">
                  <a:srgbClr val="FBBF24">
                    <a:alpha val="100000"/>
                  </a:srgbClr>
                </a:gs>
                <a:gs pos="100000">
                  <a:srgbClr val="F8FAFC">
                    <a:alpha val="0"/>
                  </a:srgbClr>
                </a:gs>
              </a:gsLst>
              <a:lin ang="0"/>
            </a:gradFill>
          </p:spPr>
        </p:sp>
        <p:sp>
          <p:nvSpPr>
            <p:cNvPr id="31" name="TextBox 31"/>
            <p:cNvSpPr txBox="1"/>
            <p:nvPr/>
          </p:nvSpPr>
          <p:spPr>
            <a:xfrm>
              <a:off x="0" y="-57150"/>
              <a:ext cx="1060385" cy="463550"/>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rot="-10800000">
            <a:off x="14643298" y="276622"/>
            <a:ext cx="2914535" cy="1116957"/>
            <a:chOff x="0" y="0"/>
            <a:chExt cx="1060441" cy="406400"/>
          </a:xfrm>
        </p:grpSpPr>
        <p:sp>
          <p:nvSpPr>
            <p:cNvPr id="33" name="Freeform 33"/>
            <p:cNvSpPr/>
            <p:nvPr/>
          </p:nvSpPr>
          <p:spPr>
            <a:xfrm>
              <a:off x="0" y="0"/>
              <a:ext cx="1060441" cy="406400"/>
            </a:xfrm>
            <a:custGeom>
              <a:avLst/>
              <a:gdLst/>
              <a:ahLst/>
              <a:cxnLst/>
              <a:rect l="l" t="t" r="r" b="b"/>
              <a:pathLst>
                <a:path w="1060441" h="406400">
                  <a:moveTo>
                    <a:pt x="857241" y="0"/>
                  </a:moveTo>
                  <a:cubicBezTo>
                    <a:pt x="969466" y="0"/>
                    <a:pt x="1060441" y="90976"/>
                    <a:pt x="1060441" y="203200"/>
                  </a:cubicBezTo>
                  <a:cubicBezTo>
                    <a:pt x="1060441" y="315424"/>
                    <a:pt x="969466" y="406400"/>
                    <a:pt x="857241" y="406400"/>
                  </a:cubicBezTo>
                  <a:lnTo>
                    <a:pt x="203200" y="406400"/>
                  </a:lnTo>
                  <a:cubicBezTo>
                    <a:pt x="90976" y="406400"/>
                    <a:pt x="0" y="315424"/>
                    <a:pt x="0" y="203200"/>
                  </a:cubicBezTo>
                  <a:cubicBezTo>
                    <a:pt x="0" y="90976"/>
                    <a:pt x="90976" y="0"/>
                    <a:pt x="203200" y="0"/>
                  </a:cubicBezTo>
                  <a:close/>
                </a:path>
              </a:pathLst>
            </a:custGeom>
            <a:gradFill rotWithShape="1">
              <a:gsLst>
                <a:gs pos="0">
                  <a:srgbClr val="06B6D4">
                    <a:alpha val="100000"/>
                  </a:srgbClr>
                </a:gs>
                <a:gs pos="100000">
                  <a:srgbClr val="F8FAFC">
                    <a:alpha val="0"/>
                  </a:srgbClr>
                </a:gs>
              </a:gsLst>
              <a:lin ang="0"/>
            </a:gradFill>
          </p:spPr>
        </p:sp>
        <p:sp>
          <p:nvSpPr>
            <p:cNvPr id="34" name="TextBox 34"/>
            <p:cNvSpPr txBox="1"/>
            <p:nvPr/>
          </p:nvSpPr>
          <p:spPr>
            <a:xfrm>
              <a:off x="0" y="-57150"/>
              <a:ext cx="1060441" cy="463550"/>
            </a:xfrm>
            <a:prstGeom prst="rect">
              <a:avLst/>
            </a:prstGeom>
          </p:spPr>
          <p:txBody>
            <a:bodyPr lIns="50800" tIns="50800" rIns="50800" bIns="50800" rtlCol="0" anchor="ctr"/>
            <a:lstStyle/>
            <a:p>
              <a:pPr algn="ctr">
                <a:lnSpc>
                  <a:spcPts val="2659"/>
                </a:lnSpc>
              </a:pPr>
              <a:endParaRPr/>
            </a:p>
          </p:txBody>
        </p:sp>
      </p:grpSp>
      <p:grpSp>
        <p:nvGrpSpPr>
          <p:cNvPr id="35" name="Group 35"/>
          <p:cNvGrpSpPr/>
          <p:nvPr/>
        </p:nvGrpSpPr>
        <p:grpSpPr>
          <a:xfrm>
            <a:off x="11866762" y="4391422"/>
            <a:ext cx="1168590" cy="1168590"/>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B6D4"/>
            </a:solidFill>
          </p:spPr>
        </p:sp>
        <p:sp>
          <p:nvSpPr>
            <p:cNvPr id="37" name="TextBox 37"/>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38" name="Group 38"/>
          <p:cNvGrpSpPr/>
          <p:nvPr/>
        </p:nvGrpSpPr>
        <p:grpSpPr>
          <a:xfrm>
            <a:off x="16389243" y="6844522"/>
            <a:ext cx="1168590" cy="1168590"/>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40" name="TextBox 40"/>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41" name="Group 41"/>
          <p:cNvGrpSpPr/>
          <p:nvPr/>
        </p:nvGrpSpPr>
        <p:grpSpPr>
          <a:xfrm>
            <a:off x="14034215" y="8841787"/>
            <a:ext cx="1168590" cy="1168590"/>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B6D4"/>
            </a:solidFill>
          </p:spPr>
        </p:sp>
        <p:sp>
          <p:nvSpPr>
            <p:cNvPr id="43" name="TextBox 43"/>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44" name="Group 44"/>
          <p:cNvGrpSpPr/>
          <p:nvPr/>
        </p:nvGrpSpPr>
        <p:grpSpPr>
          <a:xfrm>
            <a:off x="10096029" y="2272005"/>
            <a:ext cx="1168590" cy="1168590"/>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BF24"/>
            </a:solidFill>
          </p:spPr>
        </p:sp>
        <p:sp>
          <p:nvSpPr>
            <p:cNvPr id="46" name="TextBox 46"/>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47" name="Group 47"/>
          <p:cNvGrpSpPr/>
          <p:nvPr/>
        </p:nvGrpSpPr>
        <p:grpSpPr>
          <a:xfrm>
            <a:off x="11866762" y="276622"/>
            <a:ext cx="1168590" cy="1168590"/>
            <a:chOff x="0" y="0"/>
            <a:chExt cx="812800" cy="812800"/>
          </a:xfrm>
        </p:grpSpPr>
        <p:sp>
          <p:nvSpPr>
            <p:cNvPr id="48" name="Freeform 4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B6D4"/>
            </a:solidFill>
          </p:spPr>
        </p:sp>
        <p:sp>
          <p:nvSpPr>
            <p:cNvPr id="49" name="TextBox 49"/>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50" name="Group 50"/>
          <p:cNvGrpSpPr/>
          <p:nvPr/>
        </p:nvGrpSpPr>
        <p:grpSpPr>
          <a:xfrm>
            <a:off x="1003837" y="1028700"/>
            <a:ext cx="416513" cy="416513"/>
            <a:chOff x="0" y="0"/>
            <a:chExt cx="812800" cy="812800"/>
          </a:xfrm>
        </p:grpSpPr>
        <p:sp>
          <p:nvSpPr>
            <p:cNvPr id="51" name="Freeform 5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B6D4"/>
            </a:solidFill>
          </p:spPr>
        </p:sp>
        <p:sp>
          <p:nvSpPr>
            <p:cNvPr id="52" name="TextBox 52"/>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53" name="TextBox 53"/>
          <p:cNvSpPr txBox="1"/>
          <p:nvPr/>
        </p:nvSpPr>
        <p:spPr>
          <a:xfrm>
            <a:off x="1212094" y="4149733"/>
            <a:ext cx="5739392" cy="993767"/>
          </a:xfrm>
          <a:prstGeom prst="rect">
            <a:avLst/>
          </a:prstGeom>
        </p:spPr>
        <p:txBody>
          <a:bodyPr lIns="0" tIns="0" rIns="0" bIns="0" rtlCol="0" anchor="t">
            <a:spAutoFit/>
          </a:bodyPr>
          <a:lstStyle/>
          <a:p>
            <a:pPr algn="l">
              <a:lnSpc>
                <a:spcPts val="7700"/>
              </a:lnSpc>
            </a:pPr>
            <a:r>
              <a:rPr lang="en-US" sz="5500" b="1">
                <a:solidFill>
                  <a:srgbClr val="F8FAFC"/>
                </a:solidFill>
                <a:latin typeface="Poppins Bold"/>
                <a:ea typeface="Poppins Bold"/>
                <a:cs typeface="Poppins Bold"/>
                <a:sym typeface="Poppins Bold"/>
              </a:rPr>
              <a:t>Thank</a:t>
            </a:r>
          </a:p>
        </p:txBody>
      </p:sp>
      <p:sp>
        <p:nvSpPr>
          <p:cNvPr id="54" name="TextBox 54"/>
          <p:cNvSpPr txBox="1"/>
          <p:nvPr/>
        </p:nvSpPr>
        <p:spPr>
          <a:xfrm>
            <a:off x="1212094" y="4982167"/>
            <a:ext cx="7349117" cy="993767"/>
          </a:xfrm>
          <a:prstGeom prst="rect">
            <a:avLst/>
          </a:prstGeom>
        </p:spPr>
        <p:txBody>
          <a:bodyPr lIns="0" tIns="0" rIns="0" bIns="0" rtlCol="0" anchor="t">
            <a:spAutoFit/>
          </a:bodyPr>
          <a:lstStyle/>
          <a:p>
            <a:pPr algn="l">
              <a:lnSpc>
                <a:spcPts val="7700"/>
              </a:lnSpc>
            </a:pPr>
            <a:r>
              <a:rPr lang="en-US" sz="5500" b="1">
                <a:solidFill>
                  <a:srgbClr val="F8FAFC"/>
                </a:solidFill>
                <a:latin typeface="Poppins Bold"/>
                <a:ea typeface="Poppins Bold"/>
                <a:cs typeface="Poppins Bold"/>
                <a:sym typeface="Poppins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366</TotalTime>
  <Words>1199</Words>
  <Application>Microsoft Office PowerPoint</Application>
  <PresentationFormat>Custom</PresentationFormat>
  <Paragraphs>123</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Poppins Bold</vt:lpstr>
      <vt:lpstr>Calibri</vt:lpstr>
      <vt:lpstr>Inter 1</vt:lpstr>
      <vt:lpstr>Inter 2</vt:lpstr>
      <vt:lpstr>Poppins</vt:lpstr>
      <vt:lpstr>Inter 1 Bold</vt:lpstr>
      <vt:lpstr>Arial</vt:lpstr>
      <vt:lpstr>Inter 2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ticket project</dc:title>
  <dc:creator>palak singh</dc:creator>
  <cp:lastModifiedBy>whynotpalak@gmail.com</cp:lastModifiedBy>
  <cp:revision>4</cp:revision>
  <dcterms:created xsi:type="dcterms:W3CDTF">2006-08-16T00:00:00Z</dcterms:created>
  <dcterms:modified xsi:type="dcterms:W3CDTF">2026-10-21T16:25:17Z</dcterms:modified>
  <dc:identifier>DAHWUPSxXNo</dc:identifier>
</cp:coreProperties>
</file>